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Hook" id="{51f100ff-d22f-d1b4-4dfe-d1b946631486}">
          <p14:sldIdLst>
            <p14:sldId id="256"/>
          </p14:sldIdLst>
        </p14:section>
        <p14:section name="Meet Cubeit" id="{5520a6a3-61ea-7d74-b6a6-c8067a4ba3fb}">
          <p14:sldIdLst>
            <p14:sldId id="257"/>
          </p14:sldIdLst>
        </p14:section>
        <p14:section name="Features" id="{7e0c9f23-1466-279f-85cd-6ade83afcdbe}">
          <p14:sldIdLst>
            <p14:sldId id="258"/>
          </p14:sldIdLst>
        </p14:section>
        <p14:section name="Live demo" id="{fb4ea215-2d66-a692-241e-d3f824616c1c}">
          <p14:sldIdLst>
            <p14:sldId id="259"/>
          </p14:sldIdLst>
        </p14:section>
        <p14:section name="Local AI" id="{61d41abc-ed8f-19e8-fc40-a4c09281abf8}">
          <p14:sldIdLst>
            <p14:sldId id="260"/>
          </p14:sldIdLst>
        </p14:section>
        <p14:section name="Closing" id="{beab8b26-5232-ccec-9689-f5300f0ee8b6}">
          <p14:sldIdLst>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[0:00–0:30] HOOK
Rent's due Friday. The bathroom needs cleaning on Saturday. Did I actually go for my walk today? And what did I write last week, when things were rough?
None of this is hard. There's just a lot of it, and most of it lives in our heads.
We built Cubeit for those little things. It's a companion that helps you keep track of them, and it does that on your phone, without sending your life to a server.
→ Click to slide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[0:30–1:10] MEET PIP
This is Pip. Pip lives in this little LCD room on your phone. It wanders around, naps, waves, plays with its ball. You can tap it, pet it, pick it up, and if you tilt the phone, it slides.
That's the companion. Underneath it is the useful part: a calendar, habits and routines, chores, and a journal.
And the two are connected. When you finish a habit or a chore, Pip celebrates and you earn stars.
So our idea is simple: the companion makes you want to open the app, and the assistant makes it worth opening.
→ Click to slide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[1:10–1:40] WHAT IT HELPS WITH
So what can you actually do with it? Four everyday jobs.
The calendar remembers what's coming and reminds you on the phone. Habits keep your routines going, and streaks only count the days you planned, so a rest day doesn't break them. Chores get due dates, repeats and checklists. And the journal lets you look back, with moods, prompts and search.
You can do all of that by hand. But the faster way is to just tell Pip. Let me show you.
→ Click to slide 4, then switch to the phone mirror.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[1:40–3:15] LIVE DEMO (phone mirrored; this slide is the backup)
PRE-CHECK: preview build with the model installed; Airplane Mode ON; habit "Evening walk" exists and is NOT done today; Talk opened less than 90 s ago (the model unloads after 90 s idle and when the app is backgrounded).
1. Home screen, Pip visible. Tap Talk. Point at the pill: "On-device AI." SAY: "This phone is in Airplane Mode."
   Send: "Remind me to pay rent on Friday at 9am"
   SAY: "I'll just tell it like I'd tell a friend." (while Pip shows the thinking dots) "That's the model running on the phone."
   Card appears. SAY: "It hasn't saved anything. It shows me what it understood: Pay rent, Friday, 9 AM, with a reminder. The date comes from the phone's clock, not from the model." Tap Add event.
2. Send: "Add clean the bathroom to my chores every Saturday"
   SAY: "A weekly chore." Tap Add chore.
3. Send: "I finished my evening walk" → tap Mark done.
   Point at the room. SAY: "And there, Pip celebrates. My streak goes up and I get stars. That small moment is why people come back."
4. Send: "What's on my schedule this week?"
   SAY: "Questions don't need a confirm. It just reads my planner."
5. Tap Planner. Calendar: Friday has a dot. Chores tab: Clean the bathroom. Habits tab: Evening walk ticked.
   SAY: "Everything's there, in the normal planner."
IF THE MODEL STALLS (more than ~10 s): keep talking. If a reply is labeled "Built-in parser", say so: "That one was handled by our rule-based fallback, and the app tells you that." If a wrong card appears, tap Cancel: "This is exactly why nothing saves without a tap." Then rephrase.
→ Switch back to slides, click to slide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[3:15–4:25] WHY LOCAL
Why local? Because of what Cubeit reads: your calendar, your routines, your journal. A companion you trust with that shouldn't have to send it to someone else's server.
Here's what happens on the phone. You type, or speak, and speech-to-text runs on the device too. A small language model, Qwen 2.5 with half a billion parameters, runs through llama.cpp using llama.rn.
It doesn't answer freely. It picks one of sixteen intents and copies your words into JSON, and a schema locks the format. Then our code checks everything: it works out the date from the phone's clock, rejects dates in the past, finds the habit you meant, and asks if something's missing. Only after you tap does it save, into SQLite on the phone.
So the model proposes, the app checks, and you decide.
The internet is used once, to download the model, about 490 megabytes, checked with SHA-256. There's no account and no server. And every reply is labeled, so you always know whether the model or our rule-based fallback answered.
→ Click to slide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[4:25–4:50] CLOSING
Most apps either help you or keep you company. Cubeit tries to do both. It keeps track of the little things, notices when you get them done, and keeps all of it on your phone.
Cubeit. You've got a companion.
Thank you. We're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UBEIT_CONTENT">
    <p:bg>
      <p:bgPr>
        <a:solidFill>
          <a:srgbClr val="0B1524"/>
        </a:solidFill>
      </p:bgPr>
    </p:bg>
    <p:spTree>
      <p:nvGrpSpPr>
        <p:cNvPr id="1" name=""/>
        <p:cNvGrpSpPr/>
        <p:nvPr/>
      </p:nvGrpSpPr>
      <p:grpSpPr>
        <a:xfrm>
          <a:off x="0" y="0"/>
          <a:ext cx="0" cy="0"/>
          <a:chOff x="0" y="0"/>
          <a:chExt cx="0" cy="0"/>
        </a:xfrm>
      </p:grpSpPr>
      <p:pic>
        <p:nvPicPr>
          <p:cNvPr id="2" name="Image 0" descr="C:\Users\meanl\Documents\GitHub Repositories\Cubeit\presentation\assets\cube-1024.png">    </p:cNvPr>
          <p:cNvPicPr>
            <a:picLocks noChangeAspect="1"/>
          </p:cNvPicPr>
          <p:nvPr/>
        </p:nvPicPr>
        <p:blipFill>
          <a:blip r:embed="rId1"/>
          <a:stretch>
            <a:fillRect/>
          </a:stretch>
        </p:blipFill>
        <p:spPr>
          <a:xfrm>
            <a:off x="548640" y="6336792"/>
            <a:ext cx="219456" cy="219456"/>
          </a:xfrm>
          <a:prstGeom prst="rect">
            <a:avLst/>
          </a:prstGeom>
        </p:spPr>
      </p:pic>
      <p:sp>
        <p:nvSpPr>
          <p:cNvPr id="3" name="Text 0"/>
          <p:cNvSpPr/>
          <p:nvPr/>
        </p:nvSpPr>
        <p:spPr>
          <a:xfrm>
            <a:off x="822960" y="6309360"/>
            <a:ext cx="1097280" cy="274320"/>
          </a:xfrm>
          <a:prstGeom prst="rect">
            <a:avLst/>
          </a:prstGeom>
          <a:noFill/>
          <a:ln/>
        </p:spPr>
        <p:txBody>
          <a:bodyPr wrap="square" lIns="0" tIns="0" rIns="0" bIns="0" rtlCol="0" anchor="ctr"/>
          <a:lstStyle/>
          <a:p>
            <a:pPr indent="0" marL="0">
              <a:buNone/>
            </a:pPr>
            <a:r>
              <a:rPr lang="en-US" sz="1100" dirty="0">
                <a:solidFill>
                  <a:schemeClr val="bg2"/>
                </a:solidFill>
                <a:latin typeface="Segoe UI Semibold" pitchFamily="34" charset="0"/>
                <a:ea typeface="Segoe UI Semibold" pitchFamily="34" charset="-122"/>
                <a:cs typeface="Segoe UI Semibold" pitchFamily="34" charset="-120"/>
              </a:rPr>
              <a:t>cubeit</a:t>
            </a:r>
            <a:endParaRPr lang="en-US" sz="1100" dirty="0"/>
          </a:p>
        </p:txBody>
      </p:sp>
      <p:sp>
        <p:nvSpPr>
          <p:cNvPr id="4" name="Text 1"/>
          <p:cNvSpPr/>
          <p:nvPr>
            <p:ph idx="102" type="body" hasCustomPrompt="1"/>
          </p:nvPr>
        </p:nvSpPr>
        <p:spPr>
          <a:xfrm>
            <a:off x="548640" y="411480"/>
            <a:ext cx="8229600" cy="292608"/>
          </a:xfrm>
          <a:prstGeom prst="rect">
            <a:avLst/>
          </a:prstGeom>
          <a:noFill/>
          <a:ln/>
        </p:spPr>
        <p:txBody>
          <a:bodyPr wrap="square" rtlCol="0"/>
          <a:lstStyle>
            <a:lvl1pPr indent="0" marL="0">
              <a:buNone/>
              <a:defRPr lang="en-US" sz="1200" spc="200" kern="0" dirty="0">
                <a:solidFill>
                  <a:schemeClr val="accent2"/>
                </a:solidFill>
                <a:latin typeface="Consolas" pitchFamily="34" charset="0"/>
                <a:ea typeface="Consolas" pitchFamily="34" charset="-122"/>
                <a:cs typeface="Consolas" pitchFamily="34" charset="-120"/>
              </a:defRPr>
            </a:lvl1pPr>
          </a:lstStyle>
          <a:p>
            <a:pPr indent="0" marL="0">
              <a:buNone/>
            </a:pPr>
            <a:endParaRPr lang="en-US" sz="1200" dirty="0"/>
          </a:p>
        </p:txBody>
      </p:sp>
      <p:sp>
        <p:nvSpPr>
          <p:cNvPr id="5" name="Text 1"/>
          <p:cNvSpPr/>
          <p:nvPr>
            <p:ph idx="103" type="title" hasCustomPrompt="1"/>
          </p:nvPr>
        </p:nvSpPr>
        <p:spPr>
          <a:xfrm>
            <a:off x="548640" y="731520"/>
            <a:ext cx="11064240" cy="777240"/>
          </a:xfrm>
          <a:prstGeom prst="rect">
            <a:avLst/>
          </a:prstGeom>
          <a:noFill/>
          <a:ln/>
        </p:spPr>
        <p:txBody>
          <a:bodyPr wrap="square" rtlCol="0"/>
          <a:lstStyle>
            <a:lvl1pPr algn="l" indent="0" marL="0">
              <a:buNone/>
              <a:defRPr lang="en-US" sz="3400" dirty="0">
                <a:solidFill>
                  <a:schemeClr val="bg1"/>
                </a:solidFill>
                <a:latin typeface="Segoe UI Semibold" pitchFamily="34" charset="0"/>
                <a:ea typeface="Segoe UI Semibold" pitchFamily="34" charset="-122"/>
                <a:cs typeface="Segoe UI Semibold" pitchFamily="34" charset="-120"/>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155680" y="630936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Consolas"/>
                <a:ea typeface="Consolas"/>
                <a:cs typeface="Consolas"/>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UBEIT_BLANK">
    <p:bg>
      <p:bgPr>
        <a:solidFill>
          <a:srgbClr val="0B1524"/>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0936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Consolas"/>
                <a:ea typeface="Consolas"/>
                <a:cs typeface="Consolas"/>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3.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pixel-texture" descr="C:\Users\meanl\Documents\GitHub Repositories\Cubeit\presentation\assets\dither-up.png">    </p:cNvPr>
          <p:cNvPicPr>
            <a:picLocks noChangeAspect="1"/>
          </p:cNvPicPr>
          <p:nvPr/>
        </p:nvPicPr>
        <p:blipFill>
          <a:blip r:embed="rId1">
            <a:alphaModFix amt="18000"/>
          </a:blip>
          <a:stretch>
            <a:fillRect/>
          </a:stretch>
        </p:blipFill>
        <p:spPr>
          <a:xfrm>
            <a:off x="0" y="5577840"/>
            <a:ext cx="12191695" cy="1280160"/>
          </a:xfrm>
          <a:prstGeom prst="rect">
            <a:avLst/>
          </a:prstGeom>
        </p:spPr>
      </p:pic>
      <p:sp>
        <p:nvSpPr>
          <p:cNvPr id="3" name="kicker"/>
          <p:cNvSpPr txBox="1"/>
          <p:nvPr/>
        </p:nvSpPr>
        <p:spPr>
          <a:xfrm>
            <a:off x="640080" y="594360"/>
            <a:ext cx="6400800" cy="274320"/>
          </a:xfrm>
          <a:prstGeom prst="rect">
            <a:avLst/>
          </a:prstGeom>
          <a:noFill/>
          <a:ln/>
        </p:spPr>
        <p:txBody>
          <a:bodyPr wrap="square" lIns="0" tIns="0" rIns="0" bIns="0" rtlCol="0" anchor="ctr"/>
          <a:lstStyle/>
          <a:p>
            <a:pPr indent="0" marL="0">
              <a:buNone/>
            </a:pPr>
            <a:r>
              <a:rPr lang="en-US" sz="1200" spc="200" kern="0" dirty="0">
                <a:solidFill>
                  <a:schemeClr val="accent2"/>
                </a:solidFill>
                <a:latin typeface="Consolas" pitchFamily="34" charset="0"/>
                <a:ea typeface="Consolas" pitchFamily="34" charset="-122"/>
                <a:cs typeface="Consolas" pitchFamily="34" charset="-120"/>
              </a:rPr>
              <a:t>APPBUILDERSPH HACKATHON 2026  ·  LOCAL AI</a:t>
            </a:r>
            <a:endParaRPr lang="en-US" sz="1200" dirty="0"/>
          </a:p>
        </p:txBody>
      </p:sp>
      <p:sp>
        <p:nvSpPr>
          <p:cNvPr id="4" name="title"/>
          <p:cNvSpPr txBox="1"/>
          <p:nvPr/>
        </p:nvSpPr>
        <p:spPr>
          <a:xfrm>
            <a:off x="640080" y="1234440"/>
            <a:ext cx="6035040" cy="2011680"/>
          </a:xfrm>
          <a:prstGeom prst="rect">
            <a:avLst/>
          </a:prstGeom>
          <a:noFill/>
          <a:ln/>
        </p:spPr>
        <p:txBody>
          <a:bodyPr wrap="square" lIns="0" tIns="0" rIns="0" bIns="0" rtlCol="0" anchor="t"/>
          <a:lstStyle/>
          <a:p>
            <a:pPr indent="0" marL="0">
              <a:lnSpc>
                <a:spcPct val="95000"/>
              </a:lnSpc>
              <a:buNone/>
            </a:pPr>
            <a:r>
              <a:rPr lang="en-US" sz="5400" dirty="0">
                <a:solidFill>
                  <a:schemeClr val="bg1"/>
                </a:solidFill>
                <a:latin typeface="Segoe UI Semibold" pitchFamily="34" charset="0"/>
                <a:ea typeface="Segoe UI Semibold" pitchFamily="34" charset="-122"/>
                <a:cs typeface="Segoe UI Semibold" pitchFamily="34" charset="-120"/>
              </a:rPr>
              <a:t>Most of life is</a:t>
            </a:r>
            <a:endParaRPr lang="en-US" sz="5400" dirty="0"/>
          </a:p>
          <a:p>
            <a:pPr indent="0" marL="0">
              <a:lnSpc>
                <a:spcPct val="95000"/>
              </a:lnSpc>
              <a:buNone/>
            </a:pPr>
            <a:r>
              <a:rPr lang="en-US" sz="5400" dirty="0">
                <a:solidFill>
                  <a:schemeClr val="bg1"/>
                </a:solidFill>
                <a:latin typeface="Segoe UI Semibold" pitchFamily="34" charset="0"/>
                <a:ea typeface="Segoe UI Semibold" pitchFamily="34" charset="-122"/>
                <a:cs typeface="Segoe UI Semibold" pitchFamily="34" charset="-120"/>
              </a:rPr>
              <a:t>little things.</a:t>
            </a:r>
            <a:endParaRPr lang="en-US" sz="5400" dirty="0"/>
          </a:p>
        </p:txBody>
      </p:sp>
      <p:sp>
        <p:nvSpPr>
          <p:cNvPr id="5" name="subtitle"/>
          <p:cNvSpPr txBox="1"/>
          <p:nvPr/>
        </p:nvSpPr>
        <p:spPr>
          <a:xfrm>
            <a:off x="640080" y="3246120"/>
            <a:ext cx="4572000" cy="1188720"/>
          </a:xfrm>
          <a:prstGeom prst="rect">
            <a:avLst/>
          </a:prstGeom>
          <a:noFill/>
          <a:ln/>
        </p:spPr>
        <p:txBody>
          <a:bodyPr wrap="square" lIns="0" tIns="0" rIns="0" bIns="0" rtlCol="0" anchor="t"/>
          <a:lstStyle/>
          <a:p>
            <a:pPr indent="0" marL="0">
              <a:buNone/>
            </a:pPr>
            <a:r>
              <a:rPr lang="en-US" sz="1800" dirty="0">
                <a:solidFill>
                  <a:schemeClr val="bg2"/>
                </a:solidFill>
                <a:latin typeface="Segoe UI" pitchFamily="34" charset="0"/>
                <a:ea typeface="Segoe UI" pitchFamily="34" charset="-122"/>
                <a:cs typeface="Segoe UI" pitchFamily="34" charset="-120"/>
              </a:rPr>
              <a:t>Plans, routines, chores, and the thoughts in between. None of it is hard. There’s just a lot of it, and most of it lives in your head.</a:t>
            </a:r>
            <a:endParaRPr lang="en-US" sz="1800" dirty="0"/>
          </a:p>
        </p:txBody>
      </p:sp>
      <p:pic>
        <p:nvPicPr>
          <p:cNvPr id="6" name="cube-logo" descr="C:\Users\meanl\Documents\GitHub Repositories\Cubeit\presentation\assets\cube-1024.png">    </p:cNvPr>
          <p:cNvPicPr>
            <a:picLocks noChangeAspect="1"/>
          </p:cNvPicPr>
          <p:nvPr/>
        </p:nvPicPr>
        <p:blipFill>
          <a:blip r:embed="rId2"/>
          <a:stretch>
            <a:fillRect/>
          </a:stretch>
        </p:blipFill>
        <p:spPr>
          <a:xfrm>
            <a:off x="640080" y="4709160"/>
            <a:ext cx="685800" cy="685800"/>
          </a:xfrm>
          <a:prstGeom prst="rect">
            <a:avLst/>
          </a:prstGeom>
        </p:spPr>
      </p:pic>
      <p:sp>
        <p:nvSpPr>
          <p:cNvPr id="7" name="wordmark"/>
          <p:cNvSpPr txBox="1"/>
          <p:nvPr/>
        </p:nvSpPr>
        <p:spPr>
          <a:xfrm>
            <a:off x="1463040" y="4681728"/>
            <a:ext cx="2743200" cy="411480"/>
          </a:xfrm>
          <a:prstGeom prst="rect">
            <a:avLst/>
          </a:prstGeom>
          <a:noFill/>
          <a:ln/>
        </p:spPr>
        <p:txBody>
          <a:bodyPr wrap="square" lIns="0" tIns="0" rIns="0" bIns="0" rtlCol="0" anchor="ctr"/>
          <a:lstStyle/>
          <a:p>
            <a:pPr indent="0" marL="0">
              <a:buNone/>
            </a:pPr>
            <a:r>
              <a:rPr lang="en-US" sz="2600" dirty="0">
                <a:solidFill>
                  <a:schemeClr val="bg1"/>
                </a:solidFill>
                <a:latin typeface="Segoe UI Semibold" pitchFamily="34" charset="0"/>
                <a:ea typeface="Segoe UI Semibold" pitchFamily="34" charset="-122"/>
                <a:cs typeface="Segoe UI Semibold" pitchFamily="34" charset="-120"/>
              </a:rPr>
              <a:t>cubeit</a:t>
            </a:r>
            <a:endParaRPr lang="en-US" sz="2600" dirty="0"/>
          </a:p>
        </p:txBody>
      </p:sp>
      <p:sp>
        <p:nvSpPr>
          <p:cNvPr id="8" name="tagline"/>
          <p:cNvSpPr txBox="1"/>
          <p:nvPr/>
        </p:nvSpPr>
        <p:spPr>
          <a:xfrm>
            <a:off x="1463040" y="5074920"/>
            <a:ext cx="3657600" cy="320040"/>
          </a:xfrm>
          <a:prstGeom prst="rect">
            <a:avLst/>
          </a:prstGeom>
          <a:noFill/>
          <a:ln/>
        </p:spPr>
        <p:txBody>
          <a:bodyPr wrap="square" lIns="0" tIns="0" rIns="0" bIns="0" rtlCol="0" anchor="ctr"/>
          <a:lstStyle/>
          <a:p>
            <a:pPr indent="0" marL="0">
              <a:buNone/>
            </a:pPr>
            <a:r>
              <a:rPr lang="en-US" sz="1600" dirty="0">
                <a:solidFill>
                  <a:schemeClr val="accent2"/>
                </a:solidFill>
                <a:latin typeface="Segoe UI" pitchFamily="34" charset="0"/>
                <a:ea typeface="Segoe UI" pitchFamily="34" charset="-122"/>
                <a:cs typeface="Segoe UI" pitchFamily="34" charset="-120"/>
              </a:rPr>
              <a:t>You’ve got a companion.</a:t>
            </a:r>
            <a:endParaRPr lang="en-US" sz="1600" dirty="0"/>
          </a:p>
        </p:txBody>
      </p:sp>
      <p:pic>
        <p:nvPicPr>
          <p:cNvPr id="9" name="pip-room" descr="C:\Users\meanl\Documents\GitHub Repositories\Cubeit\presentation\assets\lcd-home.png">    </p:cNvPr>
          <p:cNvPicPr>
            <a:picLocks noChangeAspect="1"/>
          </p:cNvPicPr>
          <p:nvPr/>
        </p:nvPicPr>
        <p:blipFill>
          <a:blip r:embed="rId3"/>
          <a:stretch>
            <a:fillRect/>
          </a:stretch>
        </p:blipFill>
        <p:spPr>
          <a:xfrm>
            <a:off x="7863840" y="1371600"/>
            <a:ext cx="3383280" cy="3657801"/>
          </a:xfrm>
          <a:prstGeom prst="rect">
            <a:avLst/>
          </a:prstGeom>
        </p:spPr>
      </p:pic>
      <p:sp>
        <p:nvSpPr>
          <p:cNvPr id="10" name="chip-0-bg"/>
          <p:cNvSpPr/>
          <p:nvPr/>
        </p:nvSpPr>
        <p:spPr>
          <a:xfrm>
            <a:off x="6309360" y="1097280"/>
            <a:ext cx="2048256" cy="384048"/>
          </a:xfrm>
          <a:prstGeom prst="roundRect">
            <a:avLst>
              <a:gd name="adj" fmla="val 19048"/>
            </a:avLst>
          </a:prstGeom>
          <a:solidFill>
            <a:schemeClr val="tx2"/>
          </a:solidFill>
          <a:ln w="12700">
            <a:solidFill>
              <a:schemeClr val="accent6"/>
            </a:solidFill>
            <a:prstDash val="solid"/>
          </a:ln>
        </p:spPr>
      </p:sp>
      <p:sp>
        <p:nvSpPr>
          <p:cNvPr id="11" name="chip-0-text"/>
          <p:cNvSpPr txBox="1"/>
          <p:nvPr/>
        </p:nvSpPr>
        <p:spPr>
          <a:xfrm>
            <a:off x="6464808" y="1097280"/>
            <a:ext cx="1865376" cy="384048"/>
          </a:xfrm>
          <a:prstGeom prst="rect">
            <a:avLst/>
          </a:prstGeom>
          <a:noFill/>
          <a:ln/>
        </p:spPr>
        <p:txBody>
          <a:bodyPr wrap="square" lIns="0" tIns="0" rIns="0" bIns="0" rtlCol="0" anchor="ctr"/>
          <a:lstStyle/>
          <a:p>
            <a:pPr indent="0" marL="0">
              <a:buNone/>
            </a:pPr>
            <a:r>
              <a:rPr lang="en-US" sz="1300" dirty="0">
                <a:solidFill>
                  <a:schemeClr val="bg2"/>
                </a:solidFill>
                <a:latin typeface="Consolas" pitchFamily="34" charset="0"/>
                <a:ea typeface="Consolas" pitchFamily="34" charset="-122"/>
                <a:cs typeface="Consolas" pitchFamily="34" charset="-120"/>
              </a:rPr>
              <a:t>pay rent · fri 9am</a:t>
            </a:r>
            <a:endParaRPr lang="en-US" sz="1300" dirty="0"/>
          </a:p>
        </p:txBody>
      </p:sp>
      <p:sp>
        <p:nvSpPr>
          <p:cNvPr id="12" name="chip-1-bg"/>
          <p:cNvSpPr/>
          <p:nvPr/>
        </p:nvSpPr>
        <p:spPr>
          <a:xfrm>
            <a:off x="9692640" y="868680"/>
            <a:ext cx="1952244" cy="384048"/>
          </a:xfrm>
          <a:prstGeom prst="roundRect">
            <a:avLst>
              <a:gd name="adj" fmla="val 19048"/>
            </a:avLst>
          </a:prstGeom>
          <a:solidFill>
            <a:schemeClr val="tx2"/>
          </a:solidFill>
          <a:ln w="12700">
            <a:solidFill>
              <a:schemeClr val="accent6"/>
            </a:solidFill>
            <a:prstDash val="solid"/>
          </a:ln>
        </p:spPr>
      </p:sp>
      <p:sp>
        <p:nvSpPr>
          <p:cNvPr id="13" name="chip-1-text"/>
          <p:cNvSpPr txBox="1"/>
          <p:nvPr/>
        </p:nvSpPr>
        <p:spPr>
          <a:xfrm>
            <a:off x="9848088" y="868680"/>
            <a:ext cx="1769364" cy="384048"/>
          </a:xfrm>
          <a:prstGeom prst="rect">
            <a:avLst/>
          </a:prstGeom>
          <a:noFill/>
          <a:ln/>
        </p:spPr>
        <p:txBody>
          <a:bodyPr wrap="square" lIns="0" tIns="0" rIns="0" bIns="0" rtlCol="0" anchor="ctr"/>
          <a:lstStyle/>
          <a:p>
            <a:pPr indent="0" marL="0">
              <a:buNone/>
            </a:pPr>
            <a:r>
              <a:rPr lang="en-US" sz="1300" dirty="0">
                <a:solidFill>
                  <a:schemeClr val="bg2"/>
                </a:solidFill>
                <a:latin typeface="Consolas" pitchFamily="34" charset="0"/>
                <a:ea typeface="Consolas" pitchFamily="34" charset="-122"/>
                <a:cs typeface="Consolas" pitchFamily="34" charset="-120"/>
              </a:rPr>
              <a:t>dentist · tue 3pm</a:t>
            </a:r>
            <a:endParaRPr lang="en-US" sz="1300" dirty="0"/>
          </a:p>
        </p:txBody>
      </p:sp>
      <p:sp>
        <p:nvSpPr>
          <p:cNvPr id="14" name="chip-2-bg"/>
          <p:cNvSpPr/>
          <p:nvPr/>
        </p:nvSpPr>
        <p:spPr>
          <a:xfrm>
            <a:off x="5440680" y="3566160"/>
            <a:ext cx="2624328" cy="384048"/>
          </a:xfrm>
          <a:prstGeom prst="roundRect">
            <a:avLst>
              <a:gd name="adj" fmla="val 19048"/>
            </a:avLst>
          </a:prstGeom>
          <a:solidFill>
            <a:schemeClr val="tx2"/>
          </a:solidFill>
          <a:ln w="12700">
            <a:solidFill>
              <a:schemeClr val="accent6"/>
            </a:solidFill>
            <a:prstDash val="solid"/>
          </a:ln>
        </p:spPr>
      </p:sp>
      <p:sp>
        <p:nvSpPr>
          <p:cNvPr id="15" name="chip-2-text"/>
          <p:cNvSpPr txBox="1"/>
          <p:nvPr/>
        </p:nvSpPr>
        <p:spPr>
          <a:xfrm>
            <a:off x="5596128" y="3566160"/>
            <a:ext cx="2441448" cy="384048"/>
          </a:xfrm>
          <a:prstGeom prst="rect">
            <a:avLst/>
          </a:prstGeom>
          <a:noFill/>
          <a:ln/>
        </p:spPr>
        <p:txBody>
          <a:bodyPr wrap="square" lIns="0" tIns="0" rIns="0" bIns="0" rtlCol="0" anchor="ctr"/>
          <a:lstStyle/>
          <a:p>
            <a:pPr indent="0" marL="0">
              <a:buNone/>
            </a:pPr>
            <a:r>
              <a:rPr lang="en-US" sz="1300" dirty="0">
                <a:solidFill>
                  <a:schemeClr val="bg2"/>
                </a:solidFill>
                <a:latin typeface="Consolas" pitchFamily="34" charset="0"/>
                <a:ea typeface="Consolas" pitchFamily="34" charset="-122"/>
                <a:cs typeface="Consolas" pitchFamily="34" charset="-120"/>
              </a:rPr>
              <a:t>clean the bathroom · sat</a:t>
            </a:r>
            <a:endParaRPr lang="en-US" sz="1300" dirty="0"/>
          </a:p>
        </p:txBody>
      </p:sp>
      <p:sp>
        <p:nvSpPr>
          <p:cNvPr id="16" name="chip-3-bg"/>
          <p:cNvSpPr/>
          <p:nvPr/>
        </p:nvSpPr>
        <p:spPr>
          <a:xfrm>
            <a:off x="9738360" y="5193792"/>
            <a:ext cx="1952244" cy="384048"/>
          </a:xfrm>
          <a:prstGeom prst="roundRect">
            <a:avLst>
              <a:gd name="adj" fmla="val 19048"/>
            </a:avLst>
          </a:prstGeom>
          <a:solidFill>
            <a:schemeClr val="tx2"/>
          </a:solidFill>
          <a:ln w="12700">
            <a:solidFill>
              <a:schemeClr val="accent6"/>
            </a:solidFill>
            <a:prstDash val="solid"/>
          </a:ln>
        </p:spPr>
      </p:sp>
      <p:sp>
        <p:nvSpPr>
          <p:cNvPr id="17" name="chip-3-text"/>
          <p:cNvSpPr txBox="1"/>
          <p:nvPr/>
        </p:nvSpPr>
        <p:spPr>
          <a:xfrm>
            <a:off x="9893808" y="5193792"/>
            <a:ext cx="1769364" cy="384048"/>
          </a:xfrm>
          <a:prstGeom prst="rect">
            <a:avLst/>
          </a:prstGeom>
          <a:noFill/>
          <a:ln/>
        </p:spPr>
        <p:txBody>
          <a:bodyPr wrap="square" lIns="0" tIns="0" rIns="0" bIns="0" rtlCol="0" anchor="ctr"/>
          <a:lstStyle/>
          <a:p>
            <a:pPr indent="0" marL="0">
              <a:buNone/>
            </a:pPr>
            <a:r>
              <a:rPr lang="en-US" sz="1300" dirty="0">
                <a:solidFill>
                  <a:schemeClr val="bg2"/>
                </a:solidFill>
                <a:latin typeface="Consolas" pitchFamily="34" charset="0"/>
                <a:ea typeface="Consolas" pitchFamily="34" charset="-122"/>
                <a:cs typeface="Consolas" pitchFamily="34" charset="-120"/>
              </a:rPr>
              <a:t>did I walk today?</a:t>
            </a:r>
            <a:endParaRPr lang="en-US" sz="1300" dirty="0"/>
          </a:p>
        </p:txBody>
      </p:sp>
      <p:sp>
        <p:nvSpPr>
          <p:cNvPr id="18" name="chip-4-bg"/>
          <p:cNvSpPr/>
          <p:nvPr/>
        </p:nvSpPr>
        <p:spPr>
          <a:xfrm>
            <a:off x="6583680" y="5623560"/>
            <a:ext cx="2912364" cy="384048"/>
          </a:xfrm>
          <a:prstGeom prst="roundRect">
            <a:avLst>
              <a:gd name="adj" fmla="val 19048"/>
            </a:avLst>
          </a:prstGeom>
          <a:solidFill>
            <a:schemeClr val="tx2"/>
          </a:solidFill>
          <a:ln w="12700">
            <a:solidFill>
              <a:schemeClr val="accent6"/>
            </a:solidFill>
            <a:prstDash val="solid"/>
          </a:ln>
        </p:spPr>
      </p:sp>
      <p:sp>
        <p:nvSpPr>
          <p:cNvPr id="19" name="chip-4-text"/>
          <p:cNvSpPr txBox="1"/>
          <p:nvPr/>
        </p:nvSpPr>
        <p:spPr>
          <a:xfrm>
            <a:off x="6739128" y="5623560"/>
            <a:ext cx="2729484" cy="384048"/>
          </a:xfrm>
          <a:prstGeom prst="rect">
            <a:avLst/>
          </a:prstGeom>
          <a:noFill/>
          <a:ln/>
        </p:spPr>
        <p:txBody>
          <a:bodyPr wrap="square" lIns="0" tIns="0" rIns="0" bIns="0" rtlCol="0" anchor="ctr"/>
          <a:lstStyle/>
          <a:p>
            <a:pPr indent="0" marL="0">
              <a:buNone/>
            </a:pPr>
            <a:r>
              <a:rPr lang="en-US" sz="1300" dirty="0">
                <a:solidFill>
                  <a:schemeClr val="bg2"/>
                </a:solidFill>
                <a:latin typeface="Consolas" pitchFamily="34" charset="0"/>
                <a:ea typeface="Consolas" pitchFamily="34" charset="-122"/>
                <a:cs typeface="Consolas" pitchFamily="34" charset="-120"/>
              </a:rPr>
              <a:t>what did I write last week?</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body" hasCustomPrompt="1"/>
          </p:nvPr>
        </p:nvSpPr>
        <p:spPr>
          <a:xfrm>
            <a:off x="548640" y="411480"/>
            <a:ext cx="8229600" cy="292608"/>
          </a:xfrm>
          <a:prstGeom prst="rect">
            <a:avLst/>
          </a:prstGeom>
          <a:noFill/>
          <a:ln/>
        </p:spPr>
        <p:txBody>
          <a:bodyPr wrap="square" lIns="0" tIns="0" rIns="0" bIns="0" rtlCol="0" anchor="ctr"/>
          <a:lstStyle/>
          <a:p>
            <a:pPr indent="0" marL="0">
              <a:buNone/>
            </a:pPr>
            <a:r>
              <a:rPr lang="en-US" sz="1200" spc="200" kern="0" dirty="0">
                <a:solidFill>
                  <a:schemeClr val="accent2"/>
                </a:solidFill>
                <a:latin typeface="Consolas" pitchFamily="34" charset="0"/>
                <a:ea typeface="Consolas" pitchFamily="34" charset="-122"/>
                <a:cs typeface="Consolas" pitchFamily="34" charset="-120"/>
              </a:rPr>
              <a:t>01  MEET PIP</a:t>
            </a:r>
            <a:endParaRPr lang="en-US" sz="1200" dirty="0"/>
          </a:p>
        </p:txBody>
      </p:sp>
      <p:sp>
        <p:nvSpPr>
          <p:cNvPr id="3" name="Text 1"/>
          <p:cNvSpPr/>
          <p:nvPr>
            <p:ph idx="103" type="title" hasCustomPrompt="1"/>
          </p:nvPr>
        </p:nvSpPr>
        <p:spPr>
          <a:xfrm>
            <a:off x="548640" y="731520"/>
            <a:ext cx="11064240" cy="777240"/>
          </a:xfrm>
          <a:prstGeom prst="rect">
            <a:avLst/>
          </a:prstGeom>
          <a:noFill/>
          <a:ln/>
        </p:spPr>
        <p:txBody>
          <a:bodyPr wrap="square" lIns="0" tIns="0" rIns="0" bIns="0" rtlCol="0" anchor="t"/>
          <a:lstStyle/>
          <a:p>
            <a:pPr algn="l" indent="0" marL="0">
              <a:buNone/>
            </a:pPr>
            <a:r>
              <a:rPr lang="en-US" sz="3400" dirty="0">
                <a:solidFill>
                  <a:schemeClr val="bg1"/>
                </a:solidFill>
                <a:latin typeface="Segoe UI Semibold" pitchFamily="34" charset="0"/>
                <a:ea typeface="Segoe UI Semibold" pitchFamily="34" charset="-122"/>
                <a:cs typeface="Segoe UI Semibold" pitchFamily="34" charset="-120"/>
              </a:rPr>
              <a:t>The companion makes it personal.</a:t>
            </a:r>
            <a:endParaRPr lang="en-US" sz="3400" dirty="0"/>
          </a:p>
          <a:p>
            <a:pPr algn="l" indent="0" marL="0">
              <a:buNone/>
            </a:pPr>
            <a:r>
              <a:rPr lang="en-US" sz="3400" dirty="0">
                <a:solidFill>
                  <a:schemeClr val="bg1"/>
                </a:solidFill>
                <a:latin typeface="Segoe UI Semibold" pitchFamily="34" charset="0"/>
                <a:ea typeface="Segoe UI Semibold" pitchFamily="34" charset="-122"/>
                <a:cs typeface="Segoe UI Semibold" pitchFamily="34" charset="-120"/>
              </a:rPr>
              <a:t>The assistant makes it useful.</a:t>
            </a:r>
            <a:endParaRPr lang="en-US" sz="3400" dirty="0"/>
          </a:p>
        </p:txBody>
      </p:sp>
      <p:pic>
        <p:nvPicPr>
          <p:cNvPr id="4" name="phone-home" descr="C:\Users\meanl\Documents\GitHub Repositories\Cubeit\presentation\assets\phone-home-top.png">    </p:cNvPr>
          <p:cNvPicPr>
            <a:picLocks noChangeAspect="1"/>
          </p:cNvPicPr>
          <p:nvPr/>
        </p:nvPicPr>
        <p:blipFill>
          <a:blip r:embed="rId1"/>
          <a:stretch>
            <a:fillRect/>
          </a:stretch>
        </p:blipFill>
        <p:spPr>
          <a:xfrm>
            <a:off x="8549640" y="1741512"/>
            <a:ext cx="2697480" cy="5116488"/>
          </a:xfrm>
          <a:prstGeom prst="rect">
            <a:avLst/>
          </a:prstGeom>
        </p:spPr>
      </p:pic>
      <p:sp>
        <p:nvSpPr>
          <p:cNvPr id="5" name="row0-pixel-00"/>
          <p:cNvSpPr/>
          <p:nvPr/>
        </p:nvSpPr>
        <p:spPr>
          <a:xfrm>
            <a:off x="548640" y="2304288"/>
            <a:ext cx="73152" cy="73152"/>
          </a:xfrm>
          <a:prstGeom prst="rect">
            <a:avLst/>
          </a:prstGeom>
          <a:solidFill>
            <a:srgbClr val="A9B59A"/>
          </a:solidFill>
          <a:ln w="12700">
            <a:solidFill>
              <a:srgbClr val="A9B59A"/>
            </a:solidFill>
            <a:prstDash val="solid"/>
          </a:ln>
        </p:spPr>
      </p:sp>
      <p:sp>
        <p:nvSpPr>
          <p:cNvPr id="6" name="row0-pixel-01"/>
          <p:cNvSpPr/>
          <p:nvPr/>
        </p:nvSpPr>
        <p:spPr>
          <a:xfrm>
            <a:off x="548640" y="2395728"/>
            <a:ext cx="73152" cy="73152"/>
          </a:xfrm>
          <a:prstGeom prst="rect">
            <a:avLst/>
          </a:prstGeom>
          <a:solidFill>
            <a:srgbClr val="A9B59A"/>
          </a:solidFill>
          <a:ln w="12700">
            <a:solidFill>
              <a:srgbClr val="A9B59A"/>
            </a:solidFill>
            <a:prstDash val="solid"/>
          </a:ln>
        </p:spPr>
      </p:sp>
      <p:sp>
        <p:nvSpPr>
          <p:cNvPr id="7" name="row0-pixel-10"/>
          <p:cNvSpPr/>
          <p:nvPr/>
        </p:nvSpPr>
        <p:spPr>
          <a:xfrm>
            <a:off x="640080" y="2304288"/>
            <a:ext cx="73152" cy="73152"/>
          </a:xfrm>
          <a:prstGeom prst="rect">
            <a:avLst/>
          </a:prstGeom>
          <a:solidFill>
            <a:srgbClr val="A9B59A"/>
          </a:solidFill>
          <a:ln w="12700">
            <a:solidFill>
              <a:srgbClr val="A9B59A"/>
            </a:solidFill>
            <a:prstDash val="solid"/>
          </a:ln>
        </p:spPr>
      </p:sp>
      <p:sp>
        <p:nvSpPr>
          <p:cNvPr id="8" name="row0-pixel-11"/>
          <p:cNvSpPr/>
          <p:nvPr/>
        </p:nvSpPr>
        <p:spPr>
          <a:xfrm>
            <a:off x="640080" y="2395728"/>
            <a:ext cx="73152" cy="73152"/>
          </a:xfrm>
          <a:prstGeom prst="rect">
            <a:avLst/>
          </a:prstGeom>
          <a:solidFill>
            <a:srgbClr val="A9B59A"/>
          </a:solidFill>
          <a:ln w="12700">
            <a:solidFill>
              <a:srgbClr val="A9B59A"/>
            </a:solidFill>
            <a:prstDash val="solid"/>
          </a:ln>
        </p:spPr>
      </p:sp>
      <p:sp>
        <p:nvSpPr>
          <p:cNvPr id="9" name="row0-head"/>
          <p:cNvSpPr txBox="1"/>
          <p:nvPr/>
        </p:nvSpPr>
        <p:spPr>
          <a:xfrm>
            <a:off x="914400" y="2194560"/>
            <a:ext cx="6766560" cy="365760"/>
          </a:xfrm>
          <a:prstGeom prst="rect">
            <a:avLst/>
          </a:prstGeom>
          <a:noFill/>
          <a:ln/>
        </p:spPr>
        <p:txBody>
          <a:bodyPr wrap="square" lIns="0" tIns="0" rIns="0" bIns="0" rtlCol="0" anchor="ctr"/>
          <a:lstStyle/>
          <a:p>
            <a:pPr indent="0" marL="0">
              <a:buNone/>
            </a:pPr>
            <a:r>
              <a:rPr lang="en-US" sz="2000" dirty="0">
                <a:solidFill>
                  <a:schemeClr val="bg1"/>
                </a:solidFill>
                <a:latin typeface="Segoe UI Semibold" pitchFamily="34" charset="0"/>
                <a:ea typeface="Segoe UI Semibold" pitchFamily="34" charset="-122"/>
                <a:cs typeface="Segoe UI Semibold" pitchFamily="34" charset="-120"/>
              </a:rPr>
              <a:t>Pip, the companion</a:t>
            </a:r>
            <a:endParaRPr lang="en-US" sz="2000" dirty="0"/>
          </a:p>
        </p:txBody>
      </p:sp>
      <p:sp>
        <p:nvSpPr>
          <p:cNvPr id="10" name="row0-body"/>
          <p:cNvSpPr txBox="1"/>
          <p:nvPr/>
        </p:nvSpPr>
        <p:spPr>
          <a:xfrm>
            <a:off x="914400" y="2606040"/>
            <a:ext cx="6766560" cy="777240"/>
          </a:xfrm>
          <a:prstGeom prst="rect">
            <a:avLst/>
          </a:prstGeom>
          <a:noFill/>
          <a:ln/>
        </p:spPr>
        <p:txBody>
          <a:bodyPr wrap="square" lIns="0" tIns="0" rIns="0" bIns="0" rtlCol="0" anchor="t"/>
          <a:lstStyle/>
          <a:p>
            <a:pPr indent="0" marL="0">
              <a:buNone/>
            </a:pPr>
            <a:r>
              <a:rPr lang="en-US" sz="1600" dirty="0">
                <a:solidFill>
                  <a:schemeClr val="bg2"/>
                </a:solidFill>
                <a:latin typeface="Segoe UI" pitchFamily="34" charset="0"/>
                <a:ea typeface="Segoe UI" pitchFamily="34" charset="-122"/>
                <a:cs typeface="Segoe UI" pitchFamily="34" charset="-120"/>
              </a:rPr>
              <a:t>A pixel stickman in a little LCD room. It naps, dances and waves, and reacts when you tap it, pet it, pick it up or tilt the phone.</a:t>
            </a:r>
            <a:endParaRPr lang="en-US" sz="1600" dirty="0"/>
          </a:p>
        </p:txBody>
      </p:sp>
      <p:sp>
        <p:nvSpPr>
          <p:cNvPr id="11" name="row1-pixel-00"/>
          <p:cNvSpPr/>
          <p:nvPr/>
        </p:nvSpPr>
        <p:spPr>
          <a:xfrm>
            <a:off x="548640" y="3630168"/>
            <a:ext cx="73152" cy="73152"/>
          </a:xfrm>
          <a:prstGeom prst="rect">
            <a:avLst/>
          </a:prstGeom>
          <a:solidFill>
            <a:srgbClr val="4F8DBE"/>
          </a:solidFill>
          <a:ln w="12700">
            <a:solidFill>
              <a:srgbClr val="4F8DBE"/>
            </a:solidFill>
            <a:prstDash val="solid"/>
          </a:ln>
        </p:spPr>
      </p:sp>
      <p:sp>
        <p:nvSpPr>
          <p:cNvPr id="12" name="row1-pixel-01"/>
          <p:cNvSpPr/>
          <p:nvPr/>
        </p:nvSpPr>
        <p:spPr>
          <a:xfrm>
            <a:off x="548640" y="3721608"/>
            <a:ext cx="73152" cy="73152"/>
          </a:xfrm>
          <a:prstGeom prst="rect">
            <a:avLst/>
          </a:prstGeom>
          <a:solidFill>
            <a:srgbClr val="4F8DBE"/>
          </a:solidFill>
          <a:ln w="12700">
            <a:solidFill>
              <a:srgbClr val="4F8DBE"/>
            </a:solidFill>
            <a:prstDash val="solid"/>
          </a:ln>
        </p:spPr>
      </p:sp>
      <p:sp>
        <p:nvSpPr>
          <p:cNvPr id="13" name="row1-pixel-10"/>
          <p:cNvSpPr/>
          <p:nvPr/>
        </p:nvSpPr>
        <p:spPr>
          <a:xfrm>
            <a:off x="640080" y="3630168"/>
            <a:ext cx="73152" cy="73152"/>
          </a:xfrm>
          <a:prstGeom prst="rect">
            <a:avLst/>
          </a:prstGeom>
          <a:solidFill>
            <a:srgbClr val="4F8DBE"/>
          </a:solidFill>
          <a:ln w="12700">
            <a:solidFill>
              <a:srgbClr val="4F8DBE"/>
            </a:solidFill>
            <a:prstDash val="solid"/>
          </a:ln>
        </p:spPr>
      </p:sp>
      <p:sp>
        <p:nvSpPr>
          <p:cNvPr id="14" name="row1-pixel-11"/>
          <p:cNvSpPr/>
          <p:nvPr/>
        </p:nvSpPr>
        <p:spPr>
          <a:xfrm>
            <a:off x="640080" y="3721608"/>
            <a:ext cx="73152" cy="73152"/>
          </a:xfrm>
          <a:prstGeom prst="rect">
            <a:avLst/>
          </a:prstGeom>
          <a:solidFill>
            <a:srgbClr val="4F8DBE"/>
          </a:solidFill>
          <a:ln w="12700">
            <a:solidFill>
              <a:srgbClr val="4F8DBE"/>
            </a:solidFill>
            <a:prstDash val="solid"/>
          </a:ln>
        </p:spPr>
      </p:sp>
      <p:sp>
        <p:nvSpPr>
          <p:cNvPr id="15" name="row1-head"/>
          <p:cNvSpPr txBox="1"/>
          <p:nvPr/>
        </p:nvSpPr>
        <p:spPr>
          <a:xfrm>
            <a:off x="914400" y="3520440"/>
            <a:ext cx="6766560" cy="365760"/>
          </a:xfrm>
          <a:prstGeom prst="rect">
            <a:avLst/>
          </a:prstGeom>
          <a:noFill/>
          <a:ln/>
        </p:spPr>
        <p:txBody>
          <a:bodyPr wrap="square" lIns="0" tIns="0" rIns="0" bIns="0" rtlCol="0" anchor="ctr"/>
          <a:lstStyle/>
          <a:p>
            <a:pPr indent="0" marL="0">
              <a:buNone/>
            </a:pPr>
            <a:r>
              <a:rPr lang="en-US" sz="2000" dirty="0">
                <a:solidFill>
                  <a:schemeClr val="bg1"/>
                </a:solidFill>
                <a:latin typeface="Segoe UI Semibold" pitchFamily="34" charset="0"/>
                <a:ea typeface="Segoe UI Semibold" pitchFamily="34" charset="-122"/>
                <a:cs typeface="Segoe UI Semibold" pitchFamily="34" charset="-120"/>
              </a:rPr>
              <a:t>The assistant</a:t>
            </a:r>
            <a:endParaRPr lang="en-US" sz="2000" dirty="0"/>
          </a:p>
        </p:txBody>
      </p:sp>
      <p:sp>
        <p:nvSpPr>
          <p:cNvPr id="16" name="row1-body"/>
          <p:cNvSpPr txBox="1"/>
          <p:nvPr/>
        </p:nvSpPr>
        <p:spPr>
          <a:xfrm>
            <a:off x="914400" y="3931920"/>
            <a:ext cx="6766560" cy="777240"/>
          </a:xfrm>
          <a:prstGeom prst="rect">
            <a:avLst/>
          </a:prstGeom>
          <a:noFill/>
          <a:ln/>
        </p:spPr>
        <p:txBody>
          <a:bodyPr wrap="square" lIns="0" tIns="0" rIns="0" bIns="0" rtlCol="0" anchor="t"/>
          <a:lstStyle/>
          <a:p>
            <a:pPr indent="0" marL="0">
              <a:buNone/>
            </a:pPr>
            <a:r>
              <a:rPr lang="en-US" sz="1600" dirty="0">
                <a:solidFill>
                  <a:schemeClr val="bg2"/>
                </a:solidFill>
                <a:latin typeface="Segoe UI" pitchFamily="34" charset="0"/>
                <a:ea typeface="Segoe UI" pitchFamily="34" charset="-122"/>
                <a:cs typeface="Segoe UI" pitchFamily="34" charset="-120"/>
              </a:rPr>
              <a:t>Calendar, habits and routines, chores and a journal. Tell Pip what you need in plain words. It proposes, you confirm.</a:t>
            </a:r>
            <a:endParaRPr lang="en-US" sz="1600" dirty="0"/>
          </a:p>
        </p:txBody>
      </p:sp>
      <p:sp>
        <p:nvSpPr>
          <p:cNvPr id="17" name="row2-pixel-00"/>
          <p:cNvSpPr/>
          <p:nvPr/>
        </p:nvSpPr>
        <p:spPr>
          <a:xfrm>
            <a:off x="548640" y="4956048"/>
            <a:ext cx="73152" cy="73152"/>
          </a:xfrm>
          <a:prstGeom prst="rect">
            <a:avLst/>
          </a:prstGeom>
          <a:solidFill>
            <a:srgbClr val="9CC6E8"/>
          </a:solidFill>
          <a:ln w="12700">
            <a:solidFill>
              <a:srgbClr val="9CC6E8"/>
            </a:solidFill>
            <a:prstDash val="solid"/>
          </a:ln>
        </p:spPr>
      </p:sp>
      <p:sp>
        <p:nvSpPr>
          <p:cNvPr id="18" name="row2-pixel-01"/>
          <p:cNvSpPr/>
          <p:nvPr/>
        </p:nvSpPr>
        <p:spPr>
          <a:xfrm>
            <a:off x="548640" y="5047488"/>
            <a:ext cx="73152" cy="73152"/>
          </a:xfrm>
          <a:prstGeom prst="rect">
            <a:avLst/>
          </a:prstGeom>
          <a:solidFill>
            <a:srgbClr val="9CC6E8"/>
          </a:solidFill>
          <a:ln w="12700">
            <a:solidFill>
              <a:srgbClr val="9CC6E8"/>
            </a:solidFill>
            <a:prstDash val="solid"/>
          </a:ln>
        </p:spPr>
      </p:sp>
      <p:sp>
        <p:nvSpPr>
          <p:cNvPr id="19" name="row2-pixel-10"/>
          <p:cNvSpPr/>
          <p:nvPr/>
        </p:nvSpPr>
        <p:spPr>
          <a:xfrm>
            <a:off x="640080" y="4956048"/>
            <a:ext cx="73152" cy="73152"/>
          </a:xfrm>
          <a:prstGeom prst="rect">
            <a:avLst/>
          </a:prstGeom>
          <a:solidFill>
            <a:srgbClr val="9CC6E8"/>
          </a:solidFill>
          <a:ln w="12700">
            <a:solidFill>
              <a:srgbClr val="9CC6E8"/>
            </a:solidFill>
            <a:prstDash val="solid"/>
          </a:ln>
        </p:spPr>
      </p:sp>
      <p:sp>
        <p:nvSpPr>
          <p:cNvPr id="20" name="row2-pixel-11"/>
          <p:cNvSpPr/>
          <p:nvPr/>
        </p:nvSpPr>
        <p:spPr>
          <a:xfrm>
            <a:off x="640080" y="5047488"/>
            <a:ext cx="73152" cy="73152"/>
          </a:xfrm>
          <a:prstGeom prst="rect">
            <a:avLst/>
          </a:prstGeom>
          <a:solidFill>
            <a:srgbClr val="9CC6E8"/>
          </a:solidFill>
          <a:ln w="12700">
            <a:solidFill>
              <a:srgbClr val="9CC6E8"/>
            </a:solidFill>
            <a:prstDash val="solid"/>
          </a:ln>
        </p:spPr>
      </p:sp>
      <p:sp>
        <p:nvSpPr>
          <p:cNvPr id="21" name="row2-head"/>
          <p:cNvSpPr txBox="1"/>
          <p:nvPr/>
        </p:nvSpPr>
        <p:spPr>
          <a:xfrm>
            <a:off x="914400" y="4846320"/>
            <a:ext cx="6766560" cy="365760"/>
          </a:xfrm>
          <a:prstGeom prst="rect">
            <a:avLst/>
          </a:prstGeom>
          <a:noFill/>
          <a:ln/>
        </p:spPr>
        <p:txBody>
          <a:bodyPr wrap="square" lIns="0" tIns="0" rIns="0" bIns="0" rtlCol="0" anchor="ctr"/>
          <a:lstStyle/>
          <a:p>
            <a:pPr indent="0" marL="0">
              <a:buNone/>
            </a:pPr>
            <a:r>
              <a:rPr lang="en-US" sz="2000" dirty="0">
                <a:solidFill>
                  <a:schemeClr val="bg1"/>
                </a:solidFill>
                <a:latin typeface="Segoe UI Semibold" pitchFamily="34" charset="0"/>
                <a:ea typeface="Segoe UI Semibold" pitchFamily="34" charset="-122"/>
                <a:cs typeface="Segoe UI Semibold" pitchFamily="34" charset="-120"/>
              </a:rPr>
              <a:t>Where they meet</a:t>
            </a:r>
            <a:endParaRPr lang="en-US" sz="2000" dirty="0"/>
          </a:p>
        </p:txBody>
      </p:sp>
      <p:sp>
        <p:nvSpPr>
          <p:cNvPr id="22" name="row2-body"/>
          <p:cNvSpPr txBox="1"/>
          <p:nvPr/>
        </p:nvSpPr>
        <p:spPr>
          <a:xfrm>
            <a:off x="914400" y="5257800"/>
            <a:ext cx="6766560" cy="777240"/>
          </a:xfrm>
          <a:prstGeom prst="rect">
            <a:avLst/>
          </a:prstGeom>
          <a:noFill/>
          <a:ln/>
        </p:spPr>
        <p:txBody>
          <a:bodyPr wrap="square" lIns="0" tIns="0" rIns="0" bIns="0" rtlCol="0" anchor="t"/>
          <a:lstStyle/>
          <a:p>
            <a:pPr indent="0" marL="0">
              <a:buNone/>
            </a:pPr>
            <a:r>
              <a:rPr lang="en-US" sz="1600" dirty="0">
                <a:solidFill>
                  <a:schemeClr val="bg2"/>
                </a:solidFill>
                <a:latin typeface="Segoe UI" pitchFamily="34" charset="0"/>
                <a:ea typeface="Segoe UI" pitchFamily="34" charset="-122"/>
                <a:cs typeface="Segoe UI" pitchFamily="34" charset="-120"/>
              </a:rPr>
              <a:t>Finish a habit or a chore and Pip celebrates. You earn stars, and your friendship level grows.</a:t>
            </a:r>
            <a:endParaRPr lang="en-US" sz="1600" dirty="0"/>
          </a:p>
        </p:txBody>
      </p:sp>
      <p:sp>
        <p:nvSpPr>
          <p:cNvPr id="25" name="Slide Number Placeholder 0"/>
          <p:cNvSpPr>
            <a:spLocks noGrp="1"/>
          </p:cNvSpPr>
          <p:nvPr>
            <p:ph type="sldNum" sz="quarter" idx="4294967295"/>
          </p:nvPr>
        </p:nvSpPr>
        <p:spPr>
          <a:xfrm>
            <a:off x="11155680" y="630936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Consolas"/>
                <a:ea typeface="Consolas"/>
                <a:cs typeface="Consolas"/>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body" hasCustomPrompt="1"/>
          </p:nvPr>
        </p:nvSpPr>
        <p:spPr>
          <a:xfrm>
            <a:off x="548640" y="411480"/>
            <a:ext cx="8229600" cy="292608"/>
          </a:xfrm>
          <a:prstGeom prst="rect">
            <a:avLst/>
          </a:prstGeom>
          <a:noFill/>
          <a:ln/>
        </p:spPr>
        <p:txBody>
          <a:bodyPr wrap="square" lIns="0" tIns="0" rIns="0" bIns="0" rtlCol="0" anchor="ctr"/>
          <a:lstStyle/>
          <a:p>
            <a:pPr indent="0" marL="0">
              <a:buNone/>
            </a:pPr>
            <a:r>
              <a:rPr lang="en-US" sz="1200" spc="200" kern="0" dirty="0">
                <a:solidFill>
                  <a:schemeClr val="accent2"/>
                </a:solidFill>
                <a:latin typeface="Consolas" pitchFamily="34" charset="0"/>
                <a:ea typeface="Consolas" pitchFamily="34" charset="-122"/>
                <a:cs typeface="Consolas" pitchFamily="34" charset="-120"/>
              </a:rPr>
              <a:t>02  WHAT IT HELPS WITH</a:t>
            </a:r>
            <a:endParaRPr lang="en-US" sz="1200" dirty="0"/>
          </a:p>
        </p:txBody>
      </p:sp>
      <p:sp>
        <p:nvSpPr>
          <p:cNvPr id="3" name="Text 1"/>
          <p:cNvSpPr/>
          <p:nvPr>
            <p:ph idx="103" type="title" hasCustomPrompt="1"/>
          </p:nvPr>
        </p:nvSpPr>
        <p:spPr>
          <a:xfrm>
            <a:off x="548640" y="731520"/>
            <a:ext cx="11064240" cy="777240"/>
          </a:xfrm>
          <a:prstGeom prst="rect">
            <a:avLst/>
          </a:prstGeom>
          <a:noFill/>
          <a:ln/>
        </p:spPr>
        <p:txBody>
          <a:bodyPr wrap="square" lIns="0" tIns="0" rIns="0" bIns="0" rtlCol="0" anchor="t"/>
          <a:lstStyle/>
          <a:p>
            <a:pPr algn="l" indent="0" marL="0">
              <a:buNone/>
            </a:pPr>
            <a:r>
              <a:rPr lang="en-US" sz="3400" dirty="0">
                <a:solidFill>
                  <a:schemeClr val="bg1"/>
                </a:solidFill>
                <a:latin typeface="Segoe UI Semibold" pitchFamily="34" charset="0"/>
                <a:ea typeface="Segoe UI Semibold" pitchFamily="34" charset="-122"/>
                <a:cs typeface="Segoe UI Semibold" pitchFamily="34" charset="-120"/>
              </a:rPr>
              <a:t>Four everyday jobs, one place</a:t>
            </a:r>
            <a:endParaRPr lang="en-US" sz="3400" dirty="0"/>
          </a:p>
        </p:txBody>
      </p:sp>
      <p:pic>
        <p:nvPicPr>
          <p:cNvPr id="4" name="phone-0" descr="C:\Users\meanl\Documents\GitHub Repositories\Cubeit\presentation\assets\phone-planner.png">    </p:cNvPr>
          <p:cNvPicPr>
            <a:picLocks noChangeAspect="1"/>
          </p:cNvPicPr>
          <p:nvPr/>
        </p:nvPicPr>
        <p:blipFill>
          <a:blip r:embed="rId1"/>
          <a:stretch>
            <a:fillRect/>
          </a:stretch>
        </p:blipFill>
        <p:spPr>
          <a:xfrm>
            <a:off x="685800" y="1645920"/>
            <a:ext cx="1691640" cy="3577085"/>
          </a:xfrm>
          <a:prstGeom prst="rect">
            <a:avLst/>
          </a:prstGeom>
        </p:spPr>
      </p:pic>
      <p:sp>
        <p:nvSpPr>
          <p:cNvPr id="5" name="col0-head"/>
          <p:cNvSpPr txBox="1"/>
          <p:nvPr/>
        </p:nvSpPr>
        <p:spPr>
          <a:xfrm>
            <a:off x="685800" y="5360165"/>
            <a:ext cx="2606040" cy="347472"/>
          </a:xfrm>
          <a:prstGeom prst="rect">
            <a:avLst/>
          </a:prstGeom>
          <a:noFill/>
          <a:ln/>
        </p:spPr>
        <p:txBody>
          <a:bodyPr wrap="square" lIns="0" tIns="0" rIns="0" bIns="0" rtlCol="0" anchor="ctr"/>
          <a:lstStyle/>
          <a:p>
            <a:pPr indent="0" marL="0">
              <a:buNone/>
            </a:pPr>
            <a:r>
              <a:rPr lang="en-US" sz="1700" dirty="0">
                <a:solidFill>
                  <a:schemeClr val="bg1"/>
                </a:solidFill>
                <a:latin typeface="Segoe UI Semibold" pitchFamily="34" charset="0"/>
                <a:ea typeface="Segoe UI Semibold" pitchFamily="34" charset="-122"/>
                <a:cs typeface="Segoe UI Semibold" pitchFamily="34" charset="-120"/>
              </a:rPr>
              <a:t>Remember what’s coming</a:t>
            </a:r>
            <a:endParaRPr lang="en-US" sz="1700" dirty="0"/>
          </a:p>
        </p:txBody>
      </p:sp>
      <p:sp>
        <p:nvSpPr>
          <p:cNvPr id="6" name="col0-body"/>
          <p:cNvSpPr txBox="1"/>
          <p:nvPr/>
        </p:nvSpPr>
        <p:spPr>
          <a:xfrm>
            <a:off x="685800" y="5707637"/>
            <a:ext cx="2514600" cy="548640"/>
          </a:xfrm>
          <a:prstGeom prst="rect">
            <a:avLst/>
          </a:prstGeom>
          <a:noFill/>
          <a:ln/>
        </p:spPr>
        <p:txBody>
          <a:bodyPr wrap="square" lIns="0" tIns="0" rIns="0" bIns="0" rtlCol="0" anchor="t"/>
          <a:lstStyle/>
          <a:p>
            <a:pPr indent="0" marL="0">
              <a:buNone/>
            </a:pPr>
            <a:r>
              <a:rPr lang="en-US" sz="1300" dirty="0">
                <a:solidFill>
                  <a:schemeClr val="bg2"/>
                </a:solidFill>
                <a:latin typeface="Segoe UI" pitchFamily="34" charset="0"/>
                <a:ea typeface="Segoe UI" pitchFamily="34" charset="-122"/>
                <a:cs typeface="Segoe UI" pitchFamily="34" charset="-120"/>
              </a:rPr>
              <a:t>Day, week and month views. Reminders on the phone.</a:t>
            </a:r>
            <a:endParaRPr lang="en-US" sz="1300" dirty="0"/>
          </a:p>
        </p:txBody>
      </p:sp>
      <p:pic>
        <p:nvPicPr>
          <p:cNvPr id="7" name="phone-1" descr="C:\Users\meanl\Documents\GitHub Repositories\Cubeit\presentation\assets\phone-planner-habits.png">    </p:cNvPr>
          <p:cNvPicPr>
            <a:picLocks noChangeAspect="1"/>
          </p:cNvPicPr>
          <p:nvPr/>
        </p:nvPicPr>
        <p:blipFill>
          <a:blip r:embed="rId2"/>
          <a:stretch>
            <a:fillRect/>
          </a:stretch>
        </p:blipFill>
        <p:spPr>
          <a:xfrm>
            <a:off x="3520440" y="1645920"/>
            <a:ext cx="1691640" cy="3577085"/>
          </a:xfrm>
          <a:prstGeom prst="rect">
            <a:avLst/>
          </a:prstGeom>
        </p:spPr>
      </p:pic>
      <p:sp>
        <p:nvSpPr>
          <p:cNvPr id="8" name="col1-head"/>
          <p:cNvSpPr txBox="1"/>
          <p:nvPr/>
        </p:nvSpPr>
        <p:spPr>
          <a:xfrm>
            <a:off x="3520440" y="5360165"/>
            <a:ext cx="2606040" cy="347472"/>
          </a:xfrm>
          <a:prstGeom prst="rect">
            <a:avLst/>
          </a:prstGeom>
          <a:noFill/>
          <a:ln/>
        </p:spPr>
        <p:txBody>
          <a:bodyPr wrap="square" lIns="0" tIns="0" rIns="0" bIns="0" rtlCol="0" anchor="ctr"/>
          <a:lstStyle/>
          <a:p>
            <a:pPr indent="0" marL="0">
              <a:buNone/>
            </a:pPr>
            <a:r>
              <a:rPr lang="en-US" sz="1700" dirty="0">
                <a:solidFill>
                  <a:schemeClr val="bg1"/>
                </a:solidFill>
                <a:latin typeface="Segoe UI Semibold" pitchFamily="34" charset="0"/>
                <a:ea typeface="Segoe UI Semibold" pitchFamily="34" charset="-122"/>
                <a:cs typeface="Segoe UI Semibold" pitchFamily="34" charset="-120"/>
              </a:rPr>
              <a:t>Keep routines going</a:t>
            </a:r>
            <a:endParaRPr lang="en-US" sz="1700" dirty="0"/>
          </a:p>
        </p:txBody>
      </p:sp>
      <p:sp>
        <p:nvSpPr>
          <p:cNvPr id="9" name="col1-body"/>
          <p:cNvSpPr txBox="1"/>
          <p:nvPr/>
        </p:nvSpPr>
        <p:spPr>
          <a:xfrm>
            <a:off x="3520440" y="5707637"/>
            <a:ext cx="2514600" cy="548640"/>
          </a:xfrm>
          <a:prstGeom prst="rect">
            <a:avLst/>
          </a:prstGeom>
          <a:noFill/>
          <a:ln/>
        </p:spPr>
        <p:txBody>
          <a:bodyPr wrap="square" lIns="0" tIns="0" rIns="0" bIns="0" rtlCol="0" anchor="t"/>
          <a:lstStyle/>
          <a:p>
            <a:pPr indent="0" marL="0">
              <a:buNone/>
            </a:pPr>
            <a:r>
              <a:rPr lang="en-US" sz="1300" dirty="0">
                <a:solidFill>
                  <a:schemeClr val="bg2"/>
                </a:solidFill>
                <a:latin typeface="Segoe UI" pitchFamily="34" charset="0"/>
                <a:ea typeface="Segoe UI" pitchFamily="34" charset="-122"/>
                <a:cs typeface="Segoe UI" pitchFamily="34" charset="-120"/>
              </a:rPr>
              <a:t>Streaks count only the days you planned.</a:t>
            </a:r>
            <a:endParaRPr lang="en-US" sz="1300" dirty="0"/>
          </a:p>
        </p:txBody>
      </p:sp>
      <p:pic>
        <p:nvPicPr>
          <p:cNvPr id="10" name="phone-2" descr="C:\Users\meanl\Documents\GitHub Repositories\Cubeit\presentation\assets\phone-planner-chores.png">    </p:cNvPr>
          <p:cNvPicPr>
            <a:picLocks noChangeAspect="1"/>
          </p:cNvPicPr>
          <p:nvPr/>
        </p:nvPicPr>
        <p:blipFill>
          <a:blip r:embed="rId3"/>
          <a:stretch>
            <a:fillRect/>
          </a:stretch>
        </p:blipFill>
        <p:spPr>
          <a:xfrm>
            <a:off x="6355080" y="1645920"/>
            <a:ext cx="1691640" cy="3577085"/>
          </a:xfrm>
          <a:prstGeom prst="rect">
            <a:avLst/>
          </a:prstGeom>
        </p:spPr>
      </p:pic>
      <p:sp>
        <p:nvSpPr>
          <p:cNvPr id="11" name="col2-head"/>
          <p:cNvSpPr txBox="1"/>
          <p:nvPr/>
        </p:nvSpPr>
        <p:spPr>
          <a:xfrm>
            <a:off x="6355080" y="5360165"/>
            <a:ext cx="2606040" cy="347472"/>
          </a:xfrm>
          <a:prstGeom prst="rect">
            <a:avLst/>
          </a:prstGeom>
          <a:noFill/>
          <a:ln/>
        </p:spPr>
        <p:txBody>
          <a:bodyPr wrap="square" lIns="0" tIns="0" rIns="0" bIns="0" rtlCol="0" anchor="ctr"/>
          <a:lstStyle/>
          <a:p>
            <a:pPr indent="0" marL="0">
              <a:buNone/>
            </a:pPr>
            <a:r>
              <a:rPr lang="en-US" sz="1700" dirty="0">
                <a:solidFill>
                  <a:schemeClr val="bg1"/>
                </a:solidFill>
                <a:latin typeface="Segoe UI Semibold" pitchFamily="34" charset="0"/>
                <a:ea typeface="Segoe UI Semibold" pitchFamily="34" charset="-122"/>
                <a:cs typeface="Segoe UI Semibold" pitchFamily="34" charset="-120"/>
              </a:rPr>
              <a:t>Keep the house running</a:t>
            </a:r>
            <a:endParaRPr lang="en-US" sz="1700" dirty="0"/>
          </a:p>
        </p:txBody>
      </p:sp>
      <p:sp>
        <p:nvSpPr>
          <p:cNvPr id="12" name="col2-body"/>
          <p:cNvSpPr txBox="1"/>
          <p:nvPr/>
        </p:nvSpPr>
        <p:spPr>
          <a:xfrm>
            <a:off x="6355080" y="5707637"/>
            <a:ext cx="2514600" cy="548640"/>
          </a:xfrm>
          <a:prstGeom prst="rect">
            <a:avLst/>
          </a:prstGeom>
          <a:noFill/>
          <a:ln/>
        </p:spPr>
        <p:txBody>
          <a:bodyPr wrap="square" lIns="0" tIns="0" rIns="0" bIns="0" rtlCol="0" anchor="t"/>
          <a:lstStyle/>
          <a:p>
            <a:pPr indent="0" marL="0">
              <a:buNone/>
            </a:pPr>
            <a:r>
              <a:rPr lang="en-US" sz="1300" dirty="0">
                <a:solidFill>
                  <a:schemeClr val="bg2"/>
                </a:solidFill>
                <a:latin typeface="Segoe UI" pitchFamily="34" charset="0"/>
                <a:ea typeface="Segoe UI" pitchFamily="34" charset="-122"/>
                <a:cs typeface="Segoe UI" pitchFamily="34" charset="-120"/>
              </a:rPr>
              <a:t>Due dates, repeats and checklists.</a:t>
            </a:r>
            <a:endParaRPr lang="en-US" sz="1300" dirty="0"/>
          </a:p>
        </p:txBody>
      </p:sp>
      <p:pic>
        <p:nvPicPr>
          <p:cNvPr id="13" name="phone-3" descr="C:\Users\meanl\Documents\GitHub Repositories\Cubeit\presentation\assets\phone-planner-journal.png">    </p:cNvPr>
          <p:cNvPicPr>
            <a:picLocks noChangeAspect="1"/>
          </p:cNvPicPr>
          <p:nvPr/>
        </p:nvPicPr>
        <p:blipFill>
          <a:blip r:embed="rId4"/>
          <a:stretch>
            <a:fillRect/>
          </a:stretch>
        </p:blipFill>
        <p:spPr>
          <a:xfrm>
            <a:off x="9189720" y="1645920"/>
            <a:ext cx="1691640" cy="3577085"/>
          </a:xfrm>
          <a:prstGeom prst="rect">
            <a:avLst/>
          </a:prstGeom>
        </p:spPr>
      </p:pic>
      <p:sp>
        <p:nvSpPr>
          <p:cNvPr id="14" name="col3-head"/>
          <p:cNvSpPr txBox="1"/>
          <p:nvPr/>
        </p:nvSpPr>
        <p:spPr>
          <a:xfrm>
            <a:off x="9189720" y="5360165"/>
            <a:ext cx="2606040" cy="347472"/>
          </a:xfrm>
          <a:prstGeom prst="rect">
            <a:avLst/>
          </a:prstGeom>
          <a:noFill/>
          <a:ln/>
        </p:spPr>
        <p:txBody>
          <a:bodyPr wrap="square" lIns="0" tIns="0" rIns="0" bIns="0" rtlCol="0" anchor="ctr"/>
          <a:lstStyle/>
          <a:p>
            <a:pPr indent="0" marL="0">
              <a:buNone/>
            </a:pPr>
            <a:r>
              <a:rPr lang="en-US" sz="1700" dirty="0">
                <a:solidFill>
                  <a:schemeClr val="bg1"/>
                </a:solidFill>
                <a:latin typeface="Segoe UI Semibold" pitchFamily="34" charset="0"/>
                <a:ea typeface="Segoe UI Semibold" pitchFamily="34" charset="-122"/>
                <a:cs typeface="Segoe UI Semibold" pitchFamily="34" charset="-120"/>
              </a:rPr>
              <a:t>Look back</a:t>
            </a:r>
            <a:endParaRPr lang="en-US" sz="1700" dirty="0"/>
          </a:p>
        </p:txBody>
      </p:sp>
      <p:sp>
        <p:nvSpPr>
          <p:cNvPr id="15" name="col3-body"/>
          <p:cNvSpPr txBox="1"/>
          <p:nvPr/>
        </p:nvSpPr>
        <p:spPr>
          <a:xfrm>
            <a:off x="9189720" y="5707637"/>
            <a:ext cx="2514600" cy="548640"/>
          </a:xfrm>
          <a:prstGeom prst="rect">
            <a:avLst/>
          </a:prstGeom>
          <a:noFill/>
          <a:ln/>
        </p:spPr>
        <p:txBody>
          <a:bodyPr wrap="square" lIns="0" tIns="0" rIns="0" bIns="0" rtlCol="0" anchor="t"/>
          <a:lstStyle/>
          <a:p>
            <a:pPr indent="0" marL="0">
              <a:buNone/>
            </a:pPr>
            <a:r>
              <a:rPr lang="en-US" sz="1300" dirty="0">
                <a:solidFill>
                  <a:schemeClr val="bg2"/>
                </a:solidFill>
                <a:latin typeface="Segoe UI" pitchFamily="34" charset="0"/>
                <a:ea typeface="Segoe UI" pitchFamily="34" charset="-122"/>
                <a:cs typeface="Segoe UI" pitchFamily="34" charset="-120"/>
              </a:rPr>
              <a:t>Moods, prompts, search and a weekly summary.</a:t>
            </a:r>
            <a:endParaRPr lang="en-US" sz="1300" dirty="0"/>
          </a:p>
        </p:txBody>
      </p:sp>
      <p:sp>
        <p:nvSpPr>
          <p:cNvPr id="25" name="Slide Number Placeholder 0"/>
          <p:cNvSpPr>
            <a:spLocks noGrp="1"/>
          </p:cNvSpPr>
          <p:nvPr>
            <p:ph type="sldNum" sz="quarter" idx="4294967295"/>
          </p:nvPr>
        </p:nvSpPr>
        <p:spPr>
          <a:xfrm>
            <a:off x="11155680" y="630936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Consolas"/>
                <a:ea typeface="Consolas"/>
                <a:cs typeface="Consolas"/>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body" hasCustomPrompt="1"/>
          </p:nvPr>
        </p:nvSpPr>
        <p:spPr>
          <a:xfrm>
            <a:off x="548640" y="411480"/>
            <a:ext cx="8229600" cy="292608"/>
          </a:xfrm>
          <a:prstGeom prst="rect">
            <a:avLst/>
          </a:prstGeom>
          <a:noFill/>
          <a:ln/>
        </p:spPr>
        <p:txBody>
          <a:bodyPr wrap="square" lIns="0" tIns="0" rIns="0" bIns="0" rtlCol="0" anchor="ctr"/>
          <a:lstStyle/>
          <a:p>
            <a:pPr indent="0" marL="0">
              <a:buNone/>
            </a:pPr>
            <a:r>
              <a:rPr lang="en-US" sz="1200" spc="200" kern="0" dirty="0">
                <a:solidFill>
                  <a:schemeClr val="accent2"/>
                </a:solidFill>
                <a:latin typeface="Consolas" pitchFamily="34" charset="0"/>
                <a:ea typeface="Consolas" pitchFamily="34" charset="-122"/>
                <a:cs typeface="Consolas" pitchFamily="34" charset="-120"/>
              </a:rPr>
              <a:t>03  LIVE DEMO</a:t>
            </a:r>
            <a:endParaRPr lang="en-US" sz="1200" dirty="0"/>
          </a:p>
        </p:txBody>
      </p:sp>
      <p:sp>
        <p:nvSpPr>
          <p:cNvPr id="3" name="Text 1"/>
          <p:cNvSpPr/>
          <p:nvPr>
            <p:ph idx="103" type="title" hasCustomPrompt="1"/>
          </p:nvPr>
        </p:nvSpPr>
        <p:spPr>
          <a:xfrm>
            <a:off x="548640" y="731520"/>
            <a:ext cx="11064240" cy="777240"/>
          </a:xfrm>
          <a:prstGeom prst="rect">
            <a:avLst/>
          </a:prstGeom>
          <a:noFill/>
          <a:ln/>
        </p:spPr>
        <p:txBody>
          <a:bodyPr wrap="square" lIns="0" tIns="0" rIns="0" bIns="0" rtlCol="0" anchor="t"/>
          <a:lstStyle/>
          <a:p>
            <a:pPr algn="l" indent="0" marL="0">
              <a:buNone/>
            </a:pPr>
            <a:r>
              <a:rPr lang="en-US" sz="3400" dirty="0">
                <a:solidFill>
                  <a:schemeClr val="bg1"/>
                </a:solidFill>
                <a:latin typeface="Segoe UI Semibold" pitchFamily="34" charset="0"/>
                <a:ea typeface="Segoe UI Semibold" pitchFamily="34" charset="-122"/>
                <a:cs typeface="Segoe UI Semibold" pitchFamily="34" charset="-120"/>
              </a:rPr>
              <a:t>Four messages, no forms</a:t>
            </a:r>
            <a:endParaRPr lang="en-US" sz="3400" dirty="0"/>
          </a:p>
        </p:txBody>
      </p:sp>
      <p:sp>
        <p:nvSpPr>
          <p:cNvPr id="4" name="step0-num"/>
          <p:cNvSpPr txBox="1"/>
          <p:nvPr/>
        </p:nvSpPr>
        <p:spPr>
          <a:xfrm>
            <a:off x="548640" y="1783080"/>
            <a:ext cx="365760" cy="457200"/>
          </a:xfrm>
          <a:prstGeom prst="rect">
            <a:avLst/>
          </a:prstGeom>
          <a:noFill/>
          <a:ln/>
        </p:spPr>
        <p:txBody>
          <a:bodyPr wrap="square" lIns="0" tIns="0" rIns="0" bIns="0" rtlCol="0" anchor="ctr"/>
          <a:lstStyle/>
          <a:p>
            <a:pPr indent="0" marL="0">
              <a:buNone/>
            </a:pPr>
            <a:r>
              <a:rPr lang="en-US" sz="1800" dirty="0">
                <a:solidFill>
                  <a:schemeClr val="accent2"/>
                </a:solidFill>
                <a:latin typeface="Consolas" pitchFamily="34" charset="0"/>
                <a:ea typeface="Consolas" pitchFamily="34" charset="-122"/>
                <a:cs typeface="Consolas" pitchFamily="34" charset="-120"/>
              </a:rPr>
              <a:t>1</a:t>
            </a:r>
            <a:endParaRPr lang="en-US" sz="1800" dirty="0"/>
          </a:p>
        </p:txBody>
      </p:sp>
      <p:sp>
        <p:nvSpPr>
          <p:cNvPr id="5" name="step0-msg-bg"/>
          <p:cNvSpPr/>
          <p:nvPr/>
        </p:nvSpPr>
        <p:spPr>
          <a:xfrm>
            <a:off x="960120" y="1783080"/>
            <a:ext cx="4603090" cy="457200"/>
          </a:xfrm>
          <a:prstGeom prst="roundRect">
            <a:avLst>
              <a:gd name="adj" fmla="val 50000"/>
            </a:avLst>
          </a:prstGeom>
          <a:solidFill>
            <a:schemeClr val="accent1"/>
          </a:solidFill>
          <a:ln w="12700">
            <a:solidFill>
              <a:schemeClr val="accent1"/>
            </a:solidFill>
            <a:prstDash val="solid"/>
          </a:ln>
        </p:spPr>
      </p:sp>
      <p:sp>
        <p:nvSpPr>
          <p:cNvPr id="6" name="step0-msg-text"/>
          <p:cNvSpPr txBox="1"/>
          <p:nvPr/>
        </p:nvSpPr>
        <p:spPr>
          <a:xfrm>
            <a:off x="1143000" y="1783080"/>
            <a:ext cx="4237330" cy="457200"/>
          </a:xfrm>
          <a:prstGeom prst="rect">
            <a:avLst/>
          </a:prstGeom>
          <a:noFill/>
          <a:ln/>
        </p:spPr>
        <p:txBody>
          <a:bodyPr wrap="square" lIns="0" tIns="0" rIns="0" bIns="0" rtlCol="0" anchor="ctr"/>
          <a:lstStyle/>
          <a:p>
            <a:pPr indent="0" marL="0">
              <a:buNone/>
            </a:pPr>
            <a:r>
              <a:rPr lang="en-US" sz="1500" dirty="0">
                <a:solidFill>
                  <a:srgbClr val="FFFFFF"/>
                </a:solidFill>
                <a:latin typeface="Segoe UI" pitchFamily="34" charset="0"/>
                <a:ea typeface="Segoe UI" pitchFamily="34" charset="-122"/>
                <a:cs typeface="Segoe UI" pitchFamily="34" charset="-120"/>
              </a:rPr>
              <a:t>Remind me to pay rent on Friday at 9am</a:t>
            </a:r>
            <a:endParaRPr lang="en-US" sz="1500" dirty="0"/>
          </a:p>
        </p:txBody>
      </p:sp>
      <p:sp>
        <p:nvSpPr>
          <p:cNvPr id="7" name="step0-result"/>
          <p:cNvSpPr txBox="1"/>
          <p:nvPr/>
        </p:nvSpPr>
        <p:spPr>
          <a:xfrm>
            <a:off x="1143000" y="2286000"/>
            <a:ext cx="6035040" cy="320040"/>
          </a:xfrm>
          <a:prstGeom prst="rect">
            <a:avLst/>
          </a:prstGeom>
          <a:noFill/>
          <a:ln/>
        </p:spPr>
        <p:txBody>
          <a:bodyPr wrap="square" lIns="0" tIns="0" rIns="0" bIns="0" rtlCol="0" anchor="ctr"/>
          <a:lstStyle/>
          <a:p>
            <a:pPr indent="0" marL="0">
              <a:buNone/>
            </a:pPr>
            <a:r>
              <a:rPr lang="en-US" sz="1400" dirty="0">
                <a:solidFill>
                  <a:schemeClr val="bg2"/>
                </a:solidFill>
                <a:latin typeface="Segoe UI" pitchFamily="34" charset="0"/>
                <a:ea typeface="Segoe UI" pitchFamily="34" charset="-122"/>
                <a:cs typeface="Segoe UI" pitchFamily="34" charset="-120"/>
              </a:rPr>
              <a:t>→  Calendar event with a reminder, after one tap</a:t>
            </a:r>
            <a:endParaRPr lang="en-US" sz="1400" dirty="0"/>
          </a:p>
        </p:txBody>
      </p:sp>
      <p:sp>
        <p:nvSpPr>
          <p:cNvPr id="8" name="step1-num"/>
          <p:cNvSpPr txBox="1"/>
          <p:nvPr/>
        </p:nvSpPr>
        <p:spPr>
          <a:xfrm>
            <a:off x="548640" y="2788920"/>
            <a:ext cx="365760" cy="457200"/>
          </a:xfrm>
          <a:prstGeom prst="rect">
            <a:avLst/>
          </a:prstGeom>
          <a:noFill/>
          <a:ln/>
        </p:spPr>
        <p:txBody>
          <a:bodyPr wrap="square" lIns="0" tIns="0" rIns="0" bIns="0" rtlCol="0" anchor="ctr"/>
          <a:lstStyle/>
          <a:p>
            <a:pPr indent="0" marL="0">
              <a:buNone/>
            </a:pPr>
            <a:r>
              <a:rPr lang="en-US" sz="1800" dirty="0">
                <a:solidFill>
                  <a:schemeClr val="accent2"/>
                </a:solidFill>
                <a:latin typeface="Consolas" pitchFamily="34" charset="0"/>
                <a:ea typeface="Consolas" pitchFamily="34" charset="-122"/>
                <a:cs typeface="Consolas" pitchFamily="34" charset="-120"/>
              </a:rPr>
              <a:t>2</a:t>
            </a:r>
            <a:endParaRPr lang="en-US" sz="1800" dirty="0"/>
          </a:p>
        </p:txBody>
      </p:sp>
      <p:sp>
        <p:nvSpPr>
          <p:cNvPr id="9" name="step1-msg-bg"/>
          <p:cNvSpPr/>
          <p:nvPr/>
        </p:nvSpPr>
        <p:spPr>
          <a:xfrm>
            <a:off x="960120" y="2788920"/>
            <a:ext cx="5897880" cy="457200"/>
          </a:xfrm>
          <a:prstGeom prst="roundRect">
            <a:avLst>
              <a:gd name="adj" fmla="val 50000"/>
            </a:avLst>
          </a:prstGeom>
          <a:solidFill>
            <a:schemeClr val="accent1"/>
          </a:solidFill>
          <a:ln w="12700">
            <a:solidFill>
              <a:schemeClr val="accent1"/>
            </a:solidFill>
            <a:prstDash val="solid"/>
          </a:ln>
        </p:spPr>
      </p:sp>
      <p:sp>
        <p:nvSpPr>
          <p:cNvPr id="10" name="step1-msg-text"/>
          <p:cNvSpPr txBox="1"/>
          <p:nvPr/>
        </p:nvSpPr>
        <p:spPr>
          <a:xfrm>
            <a:off x="1143000" y="2788920"/>
            <a:ext cx="5532120" cy="457200"/>
          </a:xfrm>
          <a:prstGeom prst="rect">
            <a:avLst/>
          </a:prstGeom>
          <a:noFill/>
          <a:ln/>
        </p:spPr>
        <p:txBody>
          <a:bodyPr wrap="square" lIns="0" tIns="0" rIns="0" bIns="0" rtlCol="0" anchor="ctr"/>
          <a:lstStyle/>
          <a:p>
            <a:pPr indent="0" marL="0">
              <a:buNone/>
            </a:pPr>
            <a:r>
              <a:rPr lang="en-US" sz="1500" dirty="0">
                <a:solidFill>
                  <a:srgbClr val="FFFFFF"/>
                </a:solidFill>
                <a:latin typeface="Segoe UI" pitchFamily="34" charset="0"/>
                <a:ea typeface="Segoe UI" pitchFamily="34" charset="-122"/>
                <a:cs typeface="Segoe UI" pitchFamily="34" charset="-120"/>
              </a:rPr>
              <a:t>Add clean the bathroom to my chores every Saturday</a:t>
            </a:r>
            <a:endParaRPr lang="en-US" sz="1500" dirty="0"/>
          </a:p>
        </p:txBody>
      </p:sp>
      <p:sp>
        <p:nvSpPr>
          <p:cNvPr id="11" name="step1-result"/>
          <p:cNvSpPr txBox="1"/>
          <p:nvPr/>
        </p:nvSpPr>
        <p:spPr>
          <a:xfrm>
            <a:off x="1143000" y="3291840"/>
            <a:ext cx="6035040" cy="320040"/>
          </a:xfrm>
          <a:prstGeom prst="rect">
            <a:avLst/>
          </a:prstGeom>
          <a:noFill/>
          <a:ln/>
        </p:spPr>
        <p:txBody>
          <a:bodyPr wrap="square" lIns="0" tIns="0" rIns="0" bIns="0" rtlCol="0" anchor="ctr"/>
          <a:lstStyle/>
          <a:p>
            <a:pPr indent="0" marL="0">
              <a:buNone/>
            </a:pPr>
            <a:r>
              <a:rPr lang="en-US" sz="1400" dirty="0">
                <a:solidFill>
                  <a:schemeClr val="bg2"/>
                </a:solidFill>
                <a:latin typeface="Segoe UI" pitchFamily="34" charset="0"/>
                <a:ea typeface="Segoe UI" pitchFamily="34" charset="-122"/>
                <a:cs typeface="Segoe UI" pitchFamily="34" charset="-120"/>
              </a:rPr>
              <a:t>→  A weekly chore</a:t>
            </a:r>
            <a:endParaRPr lang="en-US" sz="1400" dirty="0"/>
          </a:p>
        </p:txBody>
      </p:sp>
      <p:sp>
        <p:nvSpPr>
          <p:cNvPr id="12" name="step2-num"/>
          <p:cNvSpPr txBox="1"/>
          <p:nvPr/>
        </p:nvSpPr>
        <p:spPr>
          <a:xfrm>
            <a:off x="548640" y="3794760"/>
            <a:ext cx="365760" cy="457200"/>
          </a:xfrm>
          <a:prstGeom prst="rect">
            <a:avLst/>
          </a:prstGeom>
          <a:noFill/>
          <a:ln/>
        </p:spPr>
        <p:txBody>
          <a:bodyPr wrap="square" lIns="0" tIns="0" rIns="0" bIns="0" rtlCol="0" anchor="ctr"/>
          <a:lstStyle/>
          <a:p>
            <a:pPr indent="0" marL="0">
              <a:buNone/>
            </a:pPr>
            <a:r>
              <a:rPr lang="en-US" sz="1800" dirty="0">
                <a:solidFill>
                  <a:schemeClr val="accent2"/>
                </a:solidFill>
                <a:latin typeface="Consolas" pitchFamily="34" charset="0"/>
                <a:ea typeface="Consolas" pitchFamily="34" charset="-122"/>
                <a:cs typeface="Consolas" pitchFamily="34" charset="-120"/>
              </a:rPr>
              <a:t>3</a:t>
            </a:r>
            <a:endParaRPr lang="en-US" sz="1800" dirty="0"/>
          </a:p>
        </p:txBody>
      </p:sp>
      <p:sp>
        <p:nvSpPr>
          <p:cNvPr id="13" name="step2-msg-bg"/>
          <p:cNvSpPr/>
          <p:nvPr/>
        </p:nvSpPr>
        <p:spPr>
          <a:xfrm>
            <a:off x="960120" y="3794760"/>
            <a:ext cx="3308299" cy="457200"/>
          </a:xfrm>
          <a:prstGeom prst="roundRect">
            <a:avLst>
              <a:gd name="adj" fmla="val 50000"/>
            </a:avLst>
          </a:prstGeom>
          <a:solidFill>
            <a:schemeClr val="accent1"/>
          </a:solidFill>
          <a:ln w="12700">
            <a:solidFill>
              <a:schemeClr val="accent1"/>
            </a:solidFill>
            <a:prstDash val="solid"/>
          </a:ln>
        </p:spPr>
      </p:sp>
      <p:sp>
        <p:nvSpPr>
          <p:cNvPr id="14" name="step2-msg-text"/>
          <p:cNvSpPr txBox="1"/>
          <p:nvPr/>
        </p:nvSpPr>
        <p:spPr>
          <a:xfrm>
            <a:off x="1143000" y="3794760"/>
            <a:ext cx="2942539" cy="457200"/>
          </a:xfrm>
          <a:prstGeom prst="rect">
            <a:avLst/>
          </a:prstGeom>
          <a:noFill/>
          <a:ln/>
        </p:spPr>
        <p:txBody>
          <a:bodyPr wrap="square" lIns="0" tIns="0" rIns="0" bIns="0" rtlCol="0" anchor="ctr"/>
          <a:lstStyle/>
          <a:p>
            <a:pPr indent="0" marL="0">
              <a:buNone/>
            </a:pPr>
            <a:r>
              <a:rPr lang="en-US" sz="1500" dirty="0">
                <a:solidFill>
                  <a:srgbClr val="FFFFFF"/>
                </a:solidFill>
                <a:latin typeface="Segoe UI" pitchFamily="34" charset="0"/>
                <a:ea typeface="Segoe UI" pitchFamily="34" charset="-122"/>
                <a:cs typeface="Segoe UI" pitchFamily="34" charset="-120"/>
              </a:rPr>
              <a:t>I finished my evening walk</a:t>
            </a:r>
            <a:endParaRPr lang="en-US" sz="1500" dirty="0"/>
          </a:p>
        </p:txBody>
      </p:sp>
      <p:sp>
        <p:nvSpPr>
          <p:cNvPr id="15" name="step2-result"/>
          <p:cNvSpPr txBox="1"/>
          <p:nvPr/>
        </p:nvSpPr>
        <p:spPr>
          <a:xfrm>
            <a:off x="1143000" y="4297680"/>
            <a:ext cx="6035040" cy="320040"/>
          </a:xfrm>
          <a:prstGeom prst="rect">
            <a:avLst/>
          </a:prstGeom>
          <a:noFill/>
          <a:ln/>
        </p:spPr>
        <p:txBody>
          <a:bodyPr wrap="square" lIns="0" tIns="0" rIns="0" bIns="0" rtlCol="0" anchor="ctr"/>
          <a:lstStyle/>
          <a:p>
            <a:pPr indent="0" marL="0">
              <a:buNone/>
            </a:pPr>
            <a:r>
              <a:rPr lang="en-US" sz="1400" dirty="0">
                <a:solidFill>
                  <a:schemeClr val="bg2"/>
                </a:solidFill>
                <a:latin typeface="Segoe UI" pitchFamily="34" charset="0"/>
                <a:ea typeface="Segoe UI" pitchFamily="34" charset="-122"/>
                <a:cs typeface="Segoe UI" pitchFamily="34" charset="-120"/>
              </a:rPr>
              <a:t>→  Habit logged. Pip celebrates. Stars earned.</a:t>
            </a:r>
            <a:endParaRPr lang="en-US" sz="1400" dirty="0"/>
          </a:p>
        </p:txBody>
      </p:sp>
      <p:sp>
        <p:nvSpPr>
          <p:cNvPr id="16" name="step3-num"/>
          <p:cNvSpPr txBox="1"/>
          <p:nvPr/>
        </p:nvSpPr>
        <p:spPr>
          <a:xfrm>
            <a:off x="548640" y="4800600"/>
            <a:ext cx="365760" cy="457200"/>
          </a:xfrm>
          <a:prstGeom prst="rect">
            <a:avLst/>
          </a:prstGeom>
          <a:noFill/>
          <a:ln/>
        </p:spPr>
        <p:txBody>
          <a:bodyPr wrap="square" lIns="0" tIns="0" rIns="0" bIns="0" rtlCol="0" anchor="ctr"/>
          <a:lstStyle/>
          <a:p>
            <a:pPr indent="0" marL="0">
              <a:buNone/>
            </a:pPr>
            <a:r>
              <a:rPr lang="en-US" sz="1800" dirty="0">
                <a:solidFill>
                  <a:schemeClr val="accent2"/>
                </a:solidFill>
                <a:latin typeface="Consolas" pitchFamily="34" charset="0"/>
                <a:ea typeface="Consolas" pitchFamily="34" charset="-122"/>
                <a:cs typeface="Consolas" pitchFamily="34" charset="-120"/>
              </a:rPr>
              <a:t>4</a:t>
            </a:r>
            <a:endParaRPr lang="en-US" sz="1800" dirty="0"/>
          </a:p>
        </p:txBody>
      </p:sp>
      <p:sp>
        <p:nvSpPr>
          <p:cNvPr id="17" name="step3-msg-bg"/>
          <p:cNvSpPr/>
          <p:nvPr/>
        </p:nvSpPr>
        <p:spPr>
          <a:xfrm>
            <a:off x="960120" y="4800600"/>
            <a:ext cx="3955694" cy="457200"/>
          </a:xfrm>
          <a:prstGeom prst="roundRect">
            <a:avLst>
              <a:gd name="adj" fmla="val 50000"/>
            </a:avLst>
          </a:prstGeom>
          <a:solidFill>
            <a:schemeClr val="accent1"/>
          </a:solidFill>
          <a:ln w="12700">
            <a:solidFill>
              <a:schemeClr val="accent1"/>
            </a:solidFill>
            <a:prstDash val="solid"/>
          </a:ln>
        </p:spPr>
      </p:sp>
      <p:sp>
        <p:nvSpPr>
          <p:cNvPr id="18" name="step3-msg-text"/>
          <p:cNvSpPr txBox="1"/>
          <p:nvPr/>
        </p:nvSpPr>
        <p:spPr>
          <a:xfrm>
            <a:off x="1143000" y="4800600"/>
            <a:ext cx="3589934" cy="457200"/>
          </a:xfrm>
          <a:prstGeom prst="rect">
            <a:avLst/>
          </a:prstGeom>
          <a:noFill/>
          <a:ln/>
        </p:spPr>
        <p:txBody>
          <a:bodyPr wrap="square" lIns="0" tIns="0" rIns="0" bIns="0" rtlCol="0" anchor="ctr"/>
          <a:lstStyle/>
          <a:p>
            <a:pPr indent="0" marL="0">
              <a:buNone/>
            </a:pPr>
            <a:r>
              <a:rPr lang="en-US" sz="1500" dirty="0">
                <a:solidFill>
                  <a:srgbClr val="FFFFFF"/>
                </a:solidFill>
                <a:latin typeface="Segoe UI" pitchFamily="34" charset="0"/>
                <a:ea typeface="Segoe UI" pitchFamily="34" charset="-122"/>
                <a:cs typeface="Segoe UI" pitchFamily="34" charset="-120"/>
              </a:rPr>
              <a:t>What’s on my schedule this week?</a:t>
            </a:r>
            <a:endParaRPr lang="en-US" sz="1500" dirty="0"/>
          </a:p>
        </p:txBody>
      </p:sp>
      <p:sp>
        <p:nvSpPr>
          <p:cNvPr id="19" name="step3-result"/>
          <p:cNvSpPr txBox="1"/>
          <p:nvPr/>
        </p:nvSpPr>
        <p:spPr>
          <a:xfrm>
            <a:off x="1143000" y="5303520"/>
            <a:ext cx="6035040" cy="320040"/>
          </a:xfrm>
          <a:prstGeom prst="rect">
            <a:avLst/>
          </a:prstGeom>
          <a:noFill/>
          <a:ln/>
        </p:spPr>
        <p:txBody>
          <a:bodyPr wrap="square" lIns="0" tIns="0" rIns="0" bIns="0" rtlCol="0" anchor="ctr"/>
          <a:lstStyle/>
          <a:p>
            <a:pPr indent="0" marL="0">
              <a:buNone/>
            </a:pPr>
            <a:r>
              <a:rPr lang="en-US" sz="1400" dirty="0">
                <a:solidFill>
                  <a:schemeClr val="bg2"/>
                </a:solidFill>
                <a:latin typeface="Segoe UI" pitchFamily="34" charset="0"/>
                <a:ea typeface="Segoe UI" pitchFamily="34" charset="-122"/>
                <a:cs typeface="Segoe UI" pitchFamily="34" charset="-120"/>
              </a:rPr>
              <a:t>→  Answered from your planner, nothing to confirm</a:t>
            </a:r>
            <a:endParaRPr lang="en-US" sz="1400" dirty="0"/>
          </a:p>
        </p:txBody>
      </p:sp>
      <p:sp>
        <p:nvSpPr>
          <p:cNvPr id="20" name="then-planner"/>
          <p:cNvSpPr txBox="1"/>
          <p:nvPr/>
        </p:nvSpPr>
        <p:spPr>
          <a:xfrm>
            <a:off x="960120" y="5779008"/>
            <a:ext cx="6217920" cy="320040"/>
          </a:xfrm>
          <a:prstGeom prst="rect">
            <a:avLst/>
          </a:prstGeom>
          <a:noFill/>
          <a:ln/>
        </p:spPr>
        <p:txBody>
          <a:bodyPr wrap="square" lIns="0" tIns="0" rIns="0" bIns="0" rtlCol="0" anchor="ctr"/>
          <a:lstStyle/>
          <a:p>
            <a:pPr indent="0" marL="0">
              <a:buNone/>
            </a:pPr>
            <a:r>
              <a:rPr lang="en-US" sz="1400" dirty="0">
                <a:solidFill>
                  <a:schemeClr val="accent2"/>
                </a:solidFill>
                <a:latin typeface="Segoe UI" pitchFamily="34" charset="0"/>
                <a:ea typeface="Segoe UI" pitchFamily="34" charset="-122"/>
                <a:cs typeface="Segoe UI" pitchFamily="34" charset="-120"/>
              </a:rPr>
              <a:t>Then open Planner: everything is in the calendar, chores and habits.</a:t>
            </a:r>
            <a:endParaRPr lang="en-US" sz="1400" dirty="0"/>
          </a:p>
        </p:txBody>
      </p:sp>
      <p:pic>
        <p:nvPicPr>
          <p:cNvPr id="21" name="confirm-card" descr="C:\Users\meanl\Documents\GitHub Repositories\Cubeit\presentation\assets\card-event.png">    </p:cNvPr>
          <p:cNvPicPr>
            <a:picLocks noChangeAspect="1"/>
          </p:cNvPicPr>
          <p:nvPr/>
        </p:nvPicPr>
        <p:blipFill>
          <a:blip r:embed="rId1"/>
          <a:stretch>
            <a:fillRect/>
          </a:stretch>
        </p:blipFill>
        <p:spPr>
          <a:xfrm>
            <a:off x="8001000" y="1737360"/>
            <a:ext cx="3017520" cy="2087118"/>
          </a:xfrm>
          <a:prstGeom prst="rect">
            <a:avLst/>
          </a:prstGeom>
        </p:spPr>
      </p:pic>
      <p:sp>
        <p:nvSpPr>
          <p:cNvPr id="22" name="confirm-caption"/>
          <p:cNvSpPr txBox="1"/>
          <p:nvPr/>
        </p:nvSpPr>
        <p:spPr>
          <a:xfrm>
            <a:off x="8046720" y="3915918"/>
            <a:ext cx="3474720" cy="274320"/>
          </a:xfrm>
          <a:prstGeom prst="rect">
            <a:avLst/>
          </a:prstGeom>
          <a:noFill/>
          <a:ln/>
        </p:spPr>
        <p:txBody>
          <a:bodyPr wrap="square" lIns="0" tIns="0" rIns="0" bIns="0" rtlCol="0" anchor="ctr"/>
          <a:lstStyle/>
          <a:p>
            <a:pPr indent="0" marL="0">
              <a:buNone/>
            </a:pPr>
            <a:r>
              <a:rPr lang="en-US" sz="1200" dirty="0">
                <a:solidFill>
                  <a:schemeClr val="bg2"/>
                </a:solidFill>
                <a:latin typeface="Segoe UI" pitchFamily="34" charset="0"/>
                <a:ea typeface="Segoe UI" pitchFamily="34" charset="-122"/>
                <a:cs typeface="Segoe UI" pitchFamily="34" charset="-120"/>
              </a:rPr>
              <a:t>Nothing is saved until you tap.</a:t>
            </a:r>
            <a:endParaRPr lang="en-US" sz="1200" dirty="0"/>
          </a:p>
        </p:txBody>
      </p:sp>
      <p:pic>
        <p:nvPicPr>
          <p:cNvPr id="23" name="pip-celebrates" descr="C:\Users\meanl\Documents\GitHub Repositories\Cubeit\presentation\assets\lcd-celebrate.png">    </p:cNvPr>
          <p:cNvPicPr>
            <a:picLocks noChangeAspect="1"/>
          </p:cNvPicPr>
          <p:nvPr/>
        </p:nvPicPr>
        <p:blipFill>
          <a:blip r:embed="rId2"/>
          <a:stretch>
            <a:fillRect/>
          </a:stretch>
        </p:blipFill>
        <p:spPr>
          <a:xfrm>
            <a:off x="8595360" y="4315968"/>
            <a:ext cx="1874520" cy="2025249"/>
          </a:xfrm>
          <a:prstGeom prst="rect">
            <a:avLst/>
          </a:prstGeom>
        </p:spPr>
      </p:pic>
      <p:sp>
        <p:nvSpPr>
          <p:cNvPr id="25" name="Slide Number Placeholder 0"/>
          <p:cNvSpPr>
            <a:spLocks noGrp="1"/>
          </p:cNvSpPr>
          <p:nvPr>
            <p:ph type="sldNum" sz="quarter" idx="4294967295"/>
          </p:nvPr>
        </p:nvSpPr>
        <p:spPr>
          <a:xfrm>
            <a:off x="11155680" y="630936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Consolas"/>
                <a:ea typeface="Consolas"/>
                <a:cs typeface="Consolas"/>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body" hasCustomPrompt="1"/>
          </p:nvPr>
        </p:nvSpPr>
        <p:spPr>
          <a:xfrm>
            <a:off x="548640" y="411480"/>
            <a:ext cx="8229600" cy="292608"/>
          </a:xfrm>
          <a:prstGeom prst="rect">
            <a:avLst/>
          </a:prstGeom>
          <a:noFill/>
          <a:ln/>
        </p:spPr>
        <p:txBody>
          <a:bodyPr wrap="square" lIns="0" tIns="0" rIns="0" bIns="0" rtlCol="0" anchor="ctr"/>
          <a:lstStyle/>
          <a:p>
            <a:pPr indent="0" marL="0">
              <a:buNone/>
            </a:pPr>
            <a:r>
              <a:rPr lang="en-US" sz="1200" spc="200" kern="0" dirty="0">
                <a:solidFill>
                  <a:schemeClr val="accent2"/>
                </a:solidFill>
                <a:latin typeface="Consolas" pitchFamily="34" charset="0"/>
                <a:ea typeface="Consolas" pitchFamily="34" charset="-122"/>
                <a:cs typeface="Consolas" pitchFamily="34" charset="-120"/>
              </a:rPr>
              <a:t>04  LOCAL AI</a:t>
            </a:r>
            <a:endParaRPr lang="en-US" sz="1200" dirty="0"/>
          </a:p>
        </p:txBody>
      </p:sp>
      <p:sp>
        <p:nvSpPr>
          <p:cNvPr id="3" name="Text 1"/>
          <p:cNvSpPr/>
          <p:nvPr>
            <p:ph idx="103" type="title" hasCustomPrompt="1"/>
          </p:nvPr>
        </p:nvSpPr>
        <p:spPr>
          <a:xfrm>
            <a:off x="548640" y="731520"/>
            <a:ext cx="11064240" cy="777240"/>
          </a:xfrm>
          <a:prstGeom prst="rect">
            <a:avLst/>
          </a:prstGeom>
          <a:noFill/>
          <a:ln/>
        </p:spPr>
        <p:txBody>
          <a:bodyPr wrap="square" lIns="0" tIns="0" rIns="0" bIns="0" rtlCol="0" anchor="t"/>
          <a:lstStyle/>
          <a:p>
            <a:pPr algn="l" indent="0" marL="0">
              <a:buNone/>
            </a:pPr>
            <a:r>
              <a:rPr lang="en-US" sz="3400" dirty="0">
                <a:solidFill>
                  <a:schemeClr val="bg1"/>
                </a:solidFill>
                <a:latin typeface="Segoe UI Semibold" pitchFamily="34" charset="0"/>
                <a:ea typeface="Segoe UI Semibold" pitchFamily="34" charset="-122"/>
                <a:cs typeface="Segoe UI Semibold" pitchFamily="34" charset="-120"/>
              </a:rPr>
              <a:t>Why it runs on the phone</a:t>
            </a:r>
            <a:endParaRPr lang="en-US" sz="3400" dirty="0"/>
          </a:p>
        </p:txBody>
      </p:sp>
      <p:sp>
        <p:nvSpPr>
          <p:cNvPr id="4" name="subtitle"/>
          <p:cNvSpPr txBox="1"/>
          <p:nvPr/>
        </p:nvSpPr>
        <p:spPr>
          <a:xfrm>
            <a:off x="548640" y="1417320"/>
            <a:ext cx="10515600" cy="365760"/>
          </a:xfrm>
          <a:prstGeom prst="rect">
            <a:avLst/>
          </a:prstGeom>
          <a:noFill/>
          <a:ln/>
        </p:spPr>
        <p:txBody>
          <a:bodyPr wrap="square" lIns="0" tIns="0" rIns="0" bIns="0" rtlCol="0" anchor="ctr"/>
          <a:lstStyle/>
          <a:p>
            <a:pPr indent="0" marL="0">
              <a:buNone/>
            </a:pPr>
            <a:r>
              <a:rPr lang="en-US" sz="1800" dirty="0">
                <a:solidFill>
                  <a:schemeClr val="bg2"/>
                </a:solidFill>
                <a:latin typeface="Segoe UI" pitchFamily="34" charset="0"/>
                <a:ea typeface="Segoe UI" pitchFamily="34" charset="-122"/>
                <a:cs typeface="Segoe UI" pitchFamily="34" charset="-120"/>
              </a:rPr>
              <a:t>Pip reads your calendar, routines and journal. That shouldn’t have to leave your phone.</a:t>
            </a:r>
            <a:endParaRPr lang="en-US" sz="1800" dirty="0"/>
          </a:p>
        </p:txBody>
      </p:sp>
      <p:sp>
        <p:nvSpPr>
          <p:cNvPr id="5" name="stage0-box"/>
          <p:cNvSpPr/>
          <p:nvPr/>
        </p:nvSpPr>
        <p:spPr>
          <a:xfrm>
            <a:off x="548640" y="2103120"/>
            <a:ext cx="1993392" cy="2212848"/>
          </a:xfrm>
          <a:prstGeom prst="roundRect">
            <a:avLst>
              <a:gd name="adj" fmla="val 5505"/>
            </a:avLst>
          </a:prstGeom>
          <a:solidFill>
            <a:schemeClr val="tx2"/>
          </a:solidFill>
          <a:ln w="12700">
            <a:solidFill>
              <a:schemeClr val="accent6"/>
            </a:solidFill>
            <a:prstDash val="solid"/>
          </a:ln>
        </p:spPr>
      </p:sp>
      <p:sp>
        <p:nvSpPr>
          <p:cNvPr id="6" name="stage0-num"/>
          <p:cNvSpPr txBox="1"/>
          <p:nvPr/>
        </p:nvSpPr>
        <p:spPr>
          <a:xfrm>
            <a:off x="731520" y="2267712"/>
            <a:ext cx="914400" cy="274320"/>
          </a:xfrm>
          <a:prstGeom prst="rect">
            <a:avLst/>
          </a:prstGeom>
          <a:noFill/>
          <a:ln/>
        </p:spPr>
        <p:txBody>
          <a:bodyPr wrap="square" lIns="0" tIns="0" rIns="0" bIns="0" rtlCol="0" anchor="ctr"/>
          <a:lstStyle/>
          <a:p>
            <a:pPr indent="0" marL="0">
              <a:buNone/>
            </a:pPr>
            <a:r>
              <a:rPr lang="en-US" sz="1200" dirty="0">
                <a:solidFill>
                  <a:schemeClr val="accent2"/>
                </a:solidFill>
                <a:latin typeface="Consolas" pitchFamily="34" charset="0"/>
                <a:ea typeface="Consolas" pitchFamily="34" charset="-122"/>
                <a:cs typeface="Consolas" pitchFamily="34" charset="-120"/>
              </a:rPr>
              <a:t>01</a:t>
            </a:r>
            <a:endParaRPr lang="en-US" sz="1200" dirty="0"/>
          </a:p>
        </p:txBody>
      </p:sp>
      <p:sp>
        <p:nvSpPr>
          <p:cNvPr id="7" name="stage0-head"/>
          <p:cNvSpPr txBox="1"/>
          <p:nvPr/>
        </p:nvSpPr>
        <p:spPr>
          <a:xfrm>
            <a:off x="731520" y="2560320"/>
            <a:ext cx="1673352" cy="365760"/>
          </a:xfrm>
          <a:prstGeom prst="rect">
            <a:avLst/>
          </a:prstGeom>
          <a:noFill/>
          <a:ln/>
        </p:spPr>
        <p:txBody>
          <a:bodyPr wrap="square" lIns="0" tIns="0" rIns="0" bIns="0" rtlCol="0" anchor="ctr"/>
          <a:lstStyle/>
          <a:p>
            <a:pPr indent="0" marL="0">
              <a:buNone/>
            </a:pPr>
            <a:r>
              <a:rPr lang="en-US" sz="1600" dirty="0">
                <a:solidFill>
                  <a:schemeClr val="bg1"/>
                </a:solidFill>
                <a:latin typeface="Segoe UI Semibold" pitchFamily="34" charset="0"/>
                <a:ea typeface="Segoe UI Semibold" pitchFamily="34" charset="-122"/>
                <a:cs typeface="Segoe UI Semibold" pitchFamily="34" charset="-120"/>
              </a:rPr>
              <a:t>You say it</a:t>
            </a:r>
            <a:endParaRPr lang="en-US" sz="1600" dirty="0"/>
          </a:p>
        </p:txBody>
      </p:sp>
      <p:sp>
        <p:nvSpPr>
          <p:cNvPr id="8" name="stage0-body"/>
          <p:cNvSpPr txBox="1"/>
          <p:nvPr/>
        </p:nvSpPr>
        <p:spPr>
          <a:xfrm>
            <a:off x="731520" y="2944368"/>
            <a:ext cx="1673352" cy="1298448"/>
          </a:xfrm>
          <a:prstGeom prst="rect">
            <a:avLst/>
          </a:prstGeom>
          <a:noFill/>
          <a:ln/>
        </p:spPr>
        <p:txBody>
          <a:bodyPr wrap="square" lIns="0" tIns="0" rIns="0" bIns="0" rtlCol="0" anchor="t"/>
          <a:lstStyle/>
          <a:p>
            <a:pPr indent="0" marL="0">
              <a:buNone/>
            </a:pPr>
            <a:r>
              <a:rPr lang="en-US" sz="1250" dirty="0">
                <a:solidFill>
                  <a:schemeClr val="bg2"/>
                </a:solidFill>
                <a:latin typeface="Segoe UI" pitchFamily="34" charset="0"/>
                <a:ea typeface="Segoe UI" pitchFamily="34" charset="-122"/>
                <a:cs typeface="Segoe UI" pitchFamily="34" charset="-120"/>
              </a:rPr>
              <a:t>Type it, or speak it. Speech-to-text runs on the phone.</a:t>
            </a:r>
            <a:endParaRPr lang="en-US" sz="1250" dirty="0"/>
          </a:p>
        </p:txBody>
      </p:sp>
      <p:sp>
        <p:nvSpPr>
          <p:cNvPr id="9" name="arrow0"/>
          <p:cNvSpPr/>
          <p:nvPr/>
        </p:nvSpPr>
        <p:spPr>
          <a:xfrm>
            <a:off x="2615184" y="3118104"/>
            <a:ext cx="128016" cy="182880"/>
          </a:xfrm>
          <a:prstGeom prst="chevron">
            <a:avLst/>
          </a:prstGeom>
          <a:solidFill>
            <a:schemeClr val="accent1"/>
          </a:solidFill>
          <a:ln w="12700">
            <a:solidFill>
              <a:schemeClr val="accent1"/>
            </a:solidFill>
            <a:prstDash val="solid"/>
          </a:ln>
        </p:spPr>
      </p:sp>
      <p:sp>
        <p:nvSpPr>
          <p:cNvPr id="10" name="stage1-box"/>
          <p:cNvSpPr/>
          <p:nvPr/>
        </p:nvSpPr>
        <p:spPr>
          <a:xfrm>
            <a:off x="2816352" y="2103120"/>
            <a:ext cx="1993392" cy="2212848"/>
          </a:xfrm>
          <a:prstGeom prst="roundRect">
            <a:avLst>
              <a:gd name="adj" fmla="val 5505"/>
            </a:avLst>
          </a:prstGeom>
          <a:solidFill>
            <a:schemeClr val="accent3"/>
          </a:solidFill>
          <a:ln w="12700">
            <a:solidFill>
              <a:schemeClr val="accent1"/>
            </a:solidFill>
            <a:prstDash val="solid"/>
          </a:ln>
        </p:spPr>
      </p:sp>
      <p:sp>
        <p:nvSpPr>
          <p:cNvPr id="11" name="stage1-num"/>
          <p:cNvSpPr txBox="1"/>
          <p:nvPr/>
        </p:nvSpPr>
        <p:spPr>
          <a:xfrm>
            <a:off x="2999232" y="2267712"/>
            <a:ext cx="914400" cy="274320"/>
          </a:xfrm>
          <a:prstGeom prst="rect">
            <a:avLst/>
          </a:prstGeom>
          <a:noFill/>
          <a:ln/>
        </p:spPr>
        <p:txBody>
          <a:bodyPr wrap="square" lIns="0" tIns="0" rIns="0" bIns="0" rtlCol="0" anchor="ctr"/>
          <a:lstStyle/>
          <a:p>
            <a:pPr indent="0" marL="0">
              <a:buNone/>
            </a:pPr>
            <a:r>
              <a:rPr lang="en-US" sz="1200" dirty="0">
                <a:solidFill>
                  <a:srgbClr val="FFFFFF"/>
                </a:solidFill>
                <a:latin typeface="Consolas" pitchFamily="34" charset="0"/>
                <a:ea typeface="Consolas" pitchFamily="34" charset="-122"/>
                <a:cs typeface="Consolas" pitchFamily="34" charset="-120"/>
              </a:rPr>
              <a:t>02</a:t>
            </a:r>
            <a:endParaRPr lang="en-US" sz="1200" dirty="0"/>
          </a:p>
        </p:txBody>
      </p:sp>
      <p:sp>
        <p:nvSpPr>
          <p:cNvPr id="12" name="stage1-head"/>
          <p:cNvSpPr txBox="1"/>
          <p:nvPr/>
        </p:nvSpPr>
        <p:spPr>
          <a:xfrm>
            <a:off x="2999232" y="2560320"/>
            <a:ext cx="1673352" cy="365760"/>
          </a:xfrm>
          <a:prstGeom prst="rect">
            <a:avLst/>
          </a:prstGeom>
          <a:noFill/>
          <a:ln/>
        </p:spPr>
        <p:txBody>
          <a:bodyPr wrap="square" lIns="0" tIns="0" rIns="0" bIns="0" rtlCol="0" anchor="ctr"/>
          <a:lstStyle/>
          <a:p>
            <a:pPr indent="0" marL="0">
              <a:buNone/>
            </a:pPr>
            <a:r>
              <a:rPr lang="en-US" sz="1600" dirty="0">
                <a:solidFill>
                  <a:schemeClr val="bg1"/>
                </a:solidFill>
                <a:latin typeface="Segoe UI Semibold" pitchFamily="34" charset="0"/>
                <a:ea typeface="Segoe UI Semibold" pitchFamily="34" charset="-122"/>
                <a:cs typeface="Segoe UI Semibold" pitchFamily="34" charset="-120"/>
              </a:rPr>
              <a:t>Model reads it</a:t>
            </a:r>
            <a:endParaRPr lang="en-US" sz="1600" dirty="0"/>
          </a:p>
        </p:txBody>
      </p:sp>
      <p:sp>
        <p:nvSpPr>
          <p:cNvPr id="13" name="stage1-body"/>
          <p:cNvSpPr txBox="1"/>
          <p:nvPr/>
        </p:nvSpPr>
        <p:spPr>
          <a:xfrm>
            <a:off x="2999232" y="2944368"/>
            <a:ext cx="1673352" cy="1298448"/>
          </a:xfrm>
          <a:prstGeom prst="rect">
            <a:avLst/>
          </a:prstGeom>
          <a:noFill/>
          <a:ln/>
        </p:spPr>
        <p:txBody>
          <a:bodyPr wrap="square" lIns="0" tIns="0" rIns="0" bIns="0" rtlCol="0" anchor="t"/>
          <a:lstStyle/>
          <a:p>
            <a:pPr indent="0" marL="0">
              <a:buNone/>
            </a:pPr>
            <a:r>
              <a:rPr lang="en-US" sz="1250" dirty="0">
                <a:solidFill>
                  <a:srgbClr val="E4ECF2"/>
                </a:solidFill>
                <a:latin typeface="Segoe UI" pitchFamily="34" charset="0"/>
                <a:ea typeface="Segoe UI" pitchFamily="34" charset="-122"/>
                <a:cs typeface="Segoe UI" pitchFamily="34" charset="-120"/>
              </a:rPr>
              <a:t>Qwen2.5 0.5B on llama.rn (llama.cpp). Picks 1 of 16 intents and copies your words into a fixed JSON schema.</a:t>
            </a:r>
            <a:endParaRPr lang="en-US" sz="1250" dirty="0"/>
          </a:p>
        </p:txBody>
      </p:sp>
      <p:sp>
        <p:nvSpPr>
          <p:cNvPr id="14" name="arrow1"/>
          <p:cNvSpPr/>
          <p:nvPr/>
        </p:nvSpPr>
        <p:spPr>
          <a:xfrm>
            <a:off x="4882896" y="3118104"/>
            <a:ext cx="128016" cy="182880"/>
          </a:xfrm>
          <a:prstGeom prst="chevron">
            <a:avLst/>
          </a:prstGeom>
          <a:solidFill>
            <a:schemeClr val="accent1"/>
          </a:solidFill>
          <a:ln w="12700">
            <a:solidFill>
              <a:schemeClr val="accent1"/>
            </a:solidFill>
            <a:prstDash val="solid"/>
          </a:ln>
        </p:spPr>
      </p:sp>
      <p:sp>
        <p:nvSpPr>
          <p:cNvPr id="15" name="stage2-box"/>
          <p:cNvSpPr/>
          <p:nvPr/>
        </p:nvSpPr>
        <p:spPr>
          <a:xfrm>
            <a:off x="5084064" y="2103120"/>
            <a:ext cx="1993392" cy="2212848"/>
          </a:xfrm>
          <a:prstGeom prst="roundRect">
            <a:avLst>
              <a:gd name="adj" fmla="val 5505"/>
            </a:avLst>
          </a:prstGeom>
          <a:solidFill>
            <a:schemeClr val="tx2"/>
          </a:solidFill>
          <a:ln w="12700">
            <a:solidFill>
              <a:schemeClr val="accent6"/>
            </a:solidFill>
            <a:prstDash val="solid"/>
          </a:ln>
        </p:spPr>
      </p:sp>
      <p:sp>
        <p:nvSpPr>
          <p:cNvPr id="16" name="stage2-num"/>
          <p:cNvSpPr txBox="1"/>
          <p:nvPr/>
        </p:nvSpPr>
        <p:spPr>
          <a:xfrm>
            <a:off x="5266944" y="2267712"/>
            <a:ext cx="914400" cy="274320"/>
          </a:xfrm>
          <a:prstGeom prst="rect">
            <a:avLst/>
          </a:prstGeom>
          <a:noFill/>
          <a:ln/>
        </p:spPr>
        <p:txBody>
          <a:bodyPr wrap="square" lIns="0" tIns="0" rIns="0" bIns="0" rtlCol="0" anchor="ctr"/>
          <a:lstStyle/>
          <a:p>
            <a:pPr indent="0" marL="0">
              <a:buNone/>
            </a:pPr>
            <a:r>
              <a:rPr lang="en-US" sz="1200" dirty="0">
                <a:solidFill>
                  <a:schemeClr val="accent2"/>
                </a:solidFill>
                <a:latin typeface="Consolas" pitchFamily="34" charset="0"/>
                <a:ea typeface="Consolas" pitchFamily="34" charset="-122"/>
                <a:cs typeface="Consolas" pitchFamily="34" charset="-120"/>
              </a:rPr>
              <a:t>03</a:t>
            </a:r>
            <a:endParaRPr lang="en-US" sz="1200" dirty="0"/>
          </a:p>
        </p:txBody>
      </p:sp>
      <p:sp>
        <p:nvSpPr>
          <p:cNvPr id="17" name="stage2-head"/>
          <p:cNvSpPr txBox="1"/>
          <p:nvPr/>
        </p:nvSpPr>
        <p:spPr>
          <a:xfrm>
            <a:off x="5266944" y="2560320"/>
            <a:ext cx="1673352" cy="365760"/>
          </a:xfrm>
          <a:prstGeom prst="rect">
            <a:avLst/>
          </a:prstGeom>
          <a:noFill/>
          <a:ln/>
        </p:spPr>
        <p:txBody>
          <a:bodyPr wrap="square" lIns="0" tIns="0" rIns="0" bIns="0" rtlCol="0" anchor="ctr"/>
          <a:lstStyle/>
          <a:p>
            <a:pPr indent="0" marL="0">
              <a:buNone/>
            </a:pPr>
            <a:r>
              <a:rPr lang="en-US" sz="1600" dirty="0">
                <a:solidFill>
                  <a:schemeClr val="bg1"/>
                </a:solidFill>
                <a:latin typeface="Segoe UI Semibold" pitchFamily="34" charset="0"/>
                <a:ea typeface="Segoe UI Semibold" pitchFamily="34" charset="-122"/>
                <a:cs typeface="Segoe UI Semibold" pitchFamily="34" charset="-120"/>
              </a:rPr>
              <a:t>App checks it</a:t>
            </a:r>
            <a:endParaRPr lang="en-US" sz="1600" dirty="0"/>
          </a:p>
        </p:txBody>
      </p:sp>
      <p:sp>
        <p:nvSpPr>
          <p:cNvPr id="18" name="stage2-body"/>
          <p:cNvSpPr txBox="1"/>
          <p:nvPr/>
        </p:nvSpPr>
        <p:spPr>
          <a:xfrm>
            <a:off x="5266944" y="2944368"/>
            <a:ext cx="1673352" cy="1298448"/>
          </a:xfrm>
          <a:prstGeom prst="rect">
            <a:avLst/>
          </a:prstGeom>
          <a:noFill/>
          <a:ln/>
        </p:spPr>
        <p:txBody>
          <a:bodyPr wrap="square" lIns="0" tIns="0" rIns="0" bIns="0" rtlCol="0" anchor="t"/>
          <a:lstStyle/>
          <a:p>
            <a:pPr indent="0" marL="0">
              <a:buNone/>
            </a:pPr>
            <a:r>
              <a:rPr lang="en-US" sz="1250" dirty="0">
                <a:solidFill>
                  <a:schemeClr val="bg2"/>
                </a:solidFill>
                <a:latin typeface="Segoe UI" pitchFamily="34" charset="0"/>
                <a:ea typeface="Segoe UI" pitchFamily="34" charset="-122"/>
                <a:cs typeface="Segoe UI" pitchFamily="34" charset="-120"/>
              </a:rPr>
              <a:t>Dates come from the phone’s clock. Past dates are rejected. Missing details get a question.</a:t>
            </a:r>
            <a:endParaRPr lang="en-US" sz="1250" dirty="0"/>
          </a:p>
        </p:txBody>
      </p:sp>
      <p:sp>
        <p:nvSpPr>
          <p:cNvPr id="19" name="arrow2"/>
          <p:cNvSpPr/>
          <p:nvPr/>
        </p:nvSpPr>
        <p:spPr>
          <a:xfrm>
            <a:off x="7150608" y="3118104"/>
            <a:ext cx="128016" cy="182880"/>
          </a:xfrm>
          <a:prstGeom prst="chevron">
            <a:avLst/>
          </a:prstGeom>
          <a:solidFill>
            <a:schemeClr val="accent1"/>
          </a:solidFill>
          <a:ln w="12700">
            <a:solidFill>
              <a:schemeClr val="accent1"/>
            </a:solidFill>
            <a:prstDash val="solid"/>
          </a:ln>
        </p:spPr>
      </p:sp>
      <p:sp>
        <p:nvSpPr>
          <p:cNvPr id="20" name="stage3-box"/>
          <p:cNvSpPr/>
          <p:nvPr/>
        </p:nvSpPr>
        <p:spPr>
          <a:xfrm>
            <a:off x="7351776" y="2103120"/>
            <a:ext cx="1993392" cy="2212848"/>
          </a:xfrm>
          <a:prstGeom prst="roundRect">
            <a:avLst>
              <a:gd name="adj" fmla="val 5505"/>
            </a:avLst>
          </a:prstGeom>
          <a:solidFill>
            <a:schemeClr val="tx2"/>
          </a:solidFill>
          <a:ln w="12700">
            <a:solidFill>
              <a:schemeClr val="accent6"/>
            </a:solidFill>
            <a:prstDash val="solid"/>
          </a:ln>
        </p:spPr>
      </p:sp>
      <p:sp>
        <p:nvSpPr>
          <p:cNvPr id="21" name="stage3-num"/>
          <p:cNvSpPr txBox="1"/>
          <p:nvPr/>
        </p:nvSpPr>
        <p:spPr>
          <a:xfrm>
            <a:off x="7534656" y="2267712"/>
            <a:ext cx="914400" cy="274320"/>
          </a:xfrm>
          <a:prstGeom prst="rect">
            <a:avLst/>
          </a:prstGeom>
          <a:noFill/>
          <a:ln/>
        </p:spPr>
        <p:txBody>
          <a:bodyPr wrap="square" lIns="0" tIns="0" rIns="0" bIns="0" rtlCol="0" anchor="ctr"/>
          <a:lstStyle/>
          <a:p>
            <a:pPr indent="0" marL="0">
              <a:buNone/>
            </a:pPr>
            <a:r>
              <a:rPr lang="en-US" sz="1200" dirty="0">
                <a:solidFill>
                  <a:schemeClr val="accent2"/>
                </a:solidFill>
                <a:latin typeface="Consolas" pitchFamily="34" charset="0"/>
                <a:ea typeface="Consolas" pitchFamily="34" charset="-122"/>
                <a:cs typeface="Consolas" pitchFamily="34" charset="-120"/>
              </a:rPr>
              <a:t>04</a:t>
            </a:r>
            <a:endParaRPr lang="en-US" sz="1200" dirty="0"/>
          </a:p>
        </p:txBody>
      </p:sp>
      <p:sp>
        <p:nvSpPr>
          <p:cNvPr id="22" name="stage3-head"/>
          <p:cNvSpPr txBox="1"/>
          <p:nvPr/>
        </p:nvSpPr>
        <p:spPr>
          <a:xfrm>
            <a:off x="7534656" y="2560320"/>
            <a:ext cx="1673352" cy="365760"/>
          </a:xfrm>
          <a:prstGeom prst="rect">
            <a:avLst/>
          </a:prstGeom>
          <a:noFill/>
          <a:ln/>
        </p:spPr>
        <p:txBody>
          <a:bodyPr wrap="square" lIns="0" tIns="0" rIns="0" bIns="0" rtlCol="0" anchor="ctr"/>
          <a:lstStyle/>
          <a:p>
            <a:pPr indent="0" marL="0">
              <a:buNone/>
            </a:pPr>
            <a:r>
              <a:rPr lang="en-US" sz="1600" dirty="0">
                <a:solidFill>
                  <a:schemeClr val="bg1"/>
                </a:solidFill>
                <a:latin typeface="Segoe UI Semibold" pitchFamily="34" charset="0"/>
                <a:ea typeface="Segoe UI Semibold" pitchFamily="34" charset="-122"/>
                <a:cs typeface="Segoe UI Semibold" pitchFamily="34" charset="-120"/>
              </a:rPr>
              <a:t>You confirm</a:t>
            </a:r>
            <a:endParaRPr lang="en-US" sz="1600" dirty="0"/>
          </a:p>
        </p:txBody>
      </p:sp>
      <p:sp>
        <p:nvSpPr>
          <p:cNvPr id="23" name="stage3-body"/>
          <p:cNvSpPr txBox="1"/>
          <p:nvPr/>
        </p:nvSpPr>
        <p:spPr>
          <a:xfrm>
            <a:off x="7534656" y="2944368"/>
            <a:ext cx="1673352" cy="1298448"/>
          </a:xfrm>
          <a:prstGeom prst="rect">
            <a:avLst/>
          </a:prstGeom>
          <a:noFill/>
          <a:ln/>
        </p:spPr>
        <p:txBody>
          <a:bodyPr wrap="square" lIns="0" tIns="0" rIns="0" bIns="0" rtlCol="0" anchor="t"/>
          <a:lstStyle/>
          <a:p>
            <a:pPr indent="0" marL="0">
              <a:buNone/>
            </a:pPr>
            <a:r>
              <a:rPr lang="en-US" sz="1250" dirty="0">
                <a:solidFill>
                  <a:schemeClr val="bg2"/>
                </a:solidFill>
                <a:latin typeface="Segoe UI" pitchFamily="34" charset="0"/>
                <a:ea typeface="Segoe UI" pitchFamily="34" charset="-122"/>
                <a:cs typeface="Segoe UI" pitchFamily="34" charset="-120"/>
              </a:rPr>
              <a:t>A card shows exactly what will change.</a:t>
            </a:r>
            <a:endParaRPr lang="en-US" sz="1250" dirty="0"/>
          </a:p>
        </p:txBody>
      </p:sp>
      <p:sp>
        <p:nvSpPr>
          <p:cNvPr id="24" name="arrow3"/>
          <p:cNvSpPr/>
          <p:nvPr/>
        </p:nvSpPr>
        <p:spPr>
          <a:xfrm>
            <a:off x="9418320" y="3118104"/>
            <a:ext cx="128016" cy="182880"/>
          </a:xfrm>
          <a:prstGeom prst="chevron">
            <a:avLst/>
          </a:prstGeom>
          <a:solidFill>
            <a:schemeClr val="accent1"/>
          </a:solidFill>
          <a:ln w="12700">
            <a:solidFill>
              <a:schemeClr val="accent1"/>
            </a:solidFill>
            <a:prstDash val="solid"/>
          </a:ln>
        </p:spPr>
      </p:sp>
      <p:sp>
        <p:nvSpPr>
          <p:cNvPr id="25" name="stage4-box"/>
          <p:cNvSpPr/>
          <p:nvPr/>
        </p:nvSpPr>
        <p:spPr>
          <a:xfrm>
            <a:off x="9619488" y="2103120"/>
            <a:ext cx="1993392" cy="2212848"/>
          </a:xfrm>
          <a:prstGeom prst="roundRect">
            <a:avLst>
              <a:gd name="adj" fmla="val 5505"/>
            </a:avLst>
          </a:prstGeom>
          <a:solidFill>
            <a:schemeClr val="tx2"/>
          </a:solidFill>
          <a:ln w="12700">
            <a:solidFill>
              <a:schemeClr val="accent6"/>
            </a:solidFill>
            <a:prstDash val="solid"/>
          </a:ln>
        </p:spPr>
      </p:sp>
      <p:sp>
        <p:nvSpPr>
          <p:cNvPr id="26" name="stage4-num"/>
          <p:cNvSpPr txBox="1"/>
          <p:nvPr/>
        </p:nvSpPr>
        <p:spPr>
          <a:xfrm>
            <a:off x="9802368" y="2267712"/>
            <a:ext cx="914400" cy="274320"/>
          </a:xfrm>
          <a:prstGeom prst="rect">
            <a:avLst/>
          </a:prstGeom>
          <a:noFill/>
          <a:ln/>
        </p:spPr>
        <p:txBody>
          <a:bodyPr wrap="square" lIns="0" tIns="0" rIns="0" bIns="0" rtlCol="0" anchor="ctr"/>
          <a:lstStyle/>
          <a:p>
            <a:pPr indent="0" marL="0">
              <a:buNone/>
            </a:pPr>
            <a:r>
              <a:rPr lang="en-US" sz="1200" dirty="0">
                <a:solidFill>
                  <a:schemeClr val="accent2"/>
                </a:solidFill>
                <a:latin typeface="Consolas" pitchFamily="34" charset="0"/>
                <a:ea typeface="Consolas" pitchFamily="34" charset="-122"/>
                <a:cs typeface="Consolas" pitchFamily="34" charset="-120"/>
              </a:rPr>
              <a:t>05</a:t>
            </a:r>
            <a:endParaRPr lang="en-US" sz="1200" dirty="0"/>
          </a:p>
        </p:txBody>
      </p:sp>
      <p:sp>
        <p:nvSpPr>
          <p:cNvPr id="27" name="stage4-head"/>
          <p:cNvSpPr txBox="1"/>
          <p:nvPr/>
        </p:nvSpPr>
        <p:spPr>
          <a:xfrm>
            <a:off x="9802368" y="2560320"/>
            <a:ext cx="1673352" cy="365760"/>
          </a:xfrm>
          <a:prstGeom prst="rect">
            <a:avLst/>
          </a:prstGeom>
          <a:noFill/>
          <a:ln/>
        </p:spPr>
        <p:txBody>
          <a:bodyPr wrap="square" lIns="0" tIns="0" rIns="0" bIns="0" rtlCol="0" anchor="ctr"/>
          <a:lstStyle/>
          <a:p>
            <a:pPr indent="0" marL="0">
              <a:buNone/>
            </a:pPr>
            <a:r>
              <a:rPr lang="en-US" sz="1600" dirty="0">
                <a:solidFill>
                  <a:schemeClr val="bg1"/>
                </a:solidFill>
                <a:latin typeface="Segoe UI Semibold" pitchFamily="34" charset="0"/>
                <a:ea typeface="Segoe UI Semibold" pitchFamily="34" charset="-122"/>
                <a:cs typeface="Segoe UI Semibold" pitchFamily="34" charset="-120"/>
              </a:rPr>
              <a:t>Saved locally</a:t>
            </a:r>
            <a:endParaRPr lang="en-US" sz="1600" dirty="0"/>
          </a:p>
        </p:txBody>
      </p:sp>
      <p:sp>
        <p:nvSpPr>
          <p:cNvPr id="28" name="stage4-body"/>
          <p:cNvSpPr txBox="1"/>
          <p:nvPr/>
        </p:nvSpPr>
        <p:spPr>
          <a:xfrm>
            <a:off x="9802368" y="2944368"/>
            <a:ext cx="1673352" cy="1298448"/>
          </a:xfrm>
          <a:prstGeom prst="rect">
            <a:avLst/>
          </a:prstGeom>
          <a:noFill/>
          <a:ln/>
        </p:spPr>
        <p:txBody>
          <a:bodyPr wrap="square" lIns="0" tIns="0" rIns="0" bIns="0" rtlCol="0" anchor="t"/>
          <a:lstStyle/>
          <a:p>
            <a:pPr indent="0" marL="0">
              <a:buNone/>
            </a:pPr>
            <a:r>
              <a:rPr lang="en-US" sz="1250" dirty="0">
                <a:solidFill>
                  <a:schemeClr val="bg2"/>
                </a:solidFill>
                <a:latin typeface="Segoe UI" pitchFamily="34" charset="0"/>
                <a:ea typeface="Segoe UI" pitchFamily="34" charset="-122"/>
                <a:cs typeface="Segoe UI" pitchFamily="34" charset="-120"/>
              </a:rPr>
              <a:t>SQLite on the phone. Rolled back if the write fails.</a:t>
            </a:r>
            <a:endParaRPr lang="en-US" sz="1250" dirty="0"/>
          </a:p>
        </p:txBody>
      </p:sp>
      <p:sp>
        <p:nvSpPr>
          <p:cNvPr id="29" name="principle"/>
          <p:cNvSpPr txBox="1"/>
          <p:nvPr/>
        </p:nvSpPr>
        <p:spPr>
          <a:xfrm>
            <a:off x="548640" y="4526280"/>
            <a:ext cx="10972800" cy="411480"/>
          </a:xfrm>
          <a:prstGeom prst="rect">
            <a:avLst/>
          </a:prstGeom>
          <a:noFill/>
          <a:ln/>
        </p:spPr>
        <p:txBody>
          <a:bodyPr wrap="square" lIns="0" tIns="0" rIns="0" bIns="0" rtlCol="0" anchor="ctr"/>
          <a:lstStyle/>
          <a:p>
            <a:pPr indent="0" marL="0">
              <a:buNone/>
            </a:pPr>
            <a:r>
              <a:rPr lang="en-US" sz="2000" dirty="0">
                <a:solidFill>
                  <a:schemeClr val="accent2"/>
                </a:solidFill>
                <a:latin typeface="Segoe UI Semibold" pitchFamily="34" charset="0"/>
                <a:ea typeface="Segoe UI Semibold" pitchFamily="34" charset="-122"/>
                <a:cs typeface="Segoe UI Semibold" pitchFamily="34" charset="-120"/>
              </a:rPr>
              <a:t>The model proposes. The app checks. You decide.</a:t>
            </a:r>
            <a:endParaRPr lang="en-US" sz="2000" dirty="0"/>
          </a:p>
        </p:txBody>
      </p:sp>
      <p:sp>
        <p:nvSpPr>
          <p:cNvPr id="30" name="fact0-pixel-00"/>
          <p:cNvSpPr/>
          <p:nvPr/>
        </p:nvSpPr>
        <p:spPr>
          <a:xfrm>
            <a:off x="548640" y="5184648"/>
            <a:ext cx="54864" cy="54864"/>
          </a:xfrm>
          <a:prstGeom prst="rect">
            <a:avLst/>
          </a:prstGeom>
          <a:solidFill>
            <a:srgbClr val="A9B59A"/>
          </a:solidFill>
          <a:ln w="12700">
            <a:solidFill>
              <a:srgbClr val="A9B59A"/>
            </a:solidFill>
            <a:prstDash val="solid"/>
          </a:ln>
        </p:spPr>
      </p:sp>
      <p:sp>
        <p:nvSpPr>
          <p:cNvPr id="31" name="fact0-pixel-01"/>
          <p:cNvSpPr/>
          <p:nvPr/>
        </p:nvSpPr>
        <p:spPr>
          <a:xfrm>
            <a:off x="548640" y="5257800"/>
            <a:ext cx="54864" cy="54864"/>
          </a:xfrm>
          <a:prstGeom prst="rect">
            <a:avLst/>
          </a:prstGeom>
          <a:solidFill>
            <a:srgbClr val="A9B59A"/>
          </a:solidFill>
          <a:ln w="12700">
            <a:solidFill>
              <a:srgbClr val="A9B59A"/>
            </a:solidFill>
            <a:prstDash val="solid"/>
          </a:ln>
        </p:spPr>
      </p:sp>
      <p:sp>
        <p:nvSpPr>
          <p:cNvPr id="32" name="fact0-pixel-10"/>
          <p:cNvSpPr/>
          <p:nvPr/>
        </p:nvSpPr>
        <p:spPr>
          <a:xfrm>
            <a:off x="621792" y="5184648"/>
            <a:ext cx="54864" cy="54864"/>
          </a:xfrm>
          <a:prstGeom prst="rect">
            <a:avLst/>
          </a:prstGeom>
          <a:solidFill>
            <a:srgbClr val="A9B59A"/>
          </a:solidFill>
          <a:ln w="12700">
            <a:solidFill>
              <a:srgbClr val="A9B59A"/>
            </a:solidFill>
            <a:prstDash val="solid"/>
          </a:ln>
        </p:spPr>
      </p:sp>
      <p:sp>
        <p:nvSpPr>
          <p:cNvPr id="33" name="fact0-pixel-11"/>
          <p:cNvSpPr/>
          <p:nvPr/>
        </p:nvSpPr>
        <p:spPr>
          <a:xfrm>
            <a:off x="621792" y="5257800"/>
            <a:ext cx="54864" cy="54864"/>
          </a:xfrm>
          <a:prstGeom prst="rect">
            <a:avLst/>
          </a:prstGeom>
          <a:solidFill>
            <a:srgbClr val="A9B59A"/>
          </a:solidFill>
          <a:ln w="12700">
            <a:solidFill>
              <a:srgbClr val="A9B59A"/>
            </a:solidFill>
            <a:prstDash val="solid"/>
          </a:ln>
        </p:spPr>
      </p:sp>
      <p:sp>
        <p:nvSpPr>
          <p:cNvPr id="34" name="fact0-head"/>
          <p:cNvSpPr txBox="1"/>
          <p:nvPr/>
        </p:nvSpPr>
        <p:spPr>
          <a:xfrm>
            <a:off x="822960" y="5074920"/>
            <a:ext cx="3291840" cy="320040"/>
          </a:xfrm>
          <a:prstGeom prst="rect">
            <a:avLst/>
          </a:prstGeom>
          <a:noFill/>
          <a:ln/>
        </p:spPr>
        <p:txBody>
          <a:bodyPr wrap="square" lIns="0" tIns="0" rIns="0" bIns="0" rtlCol="0" anchor="ctr"/>
          <a:lstStyle/>
          <a:p>
            <a:pPr indent="0" marL="0">
              <a:buNone/>
            </a:pPr>
            <a:r>
              <a:rPr lang="en-US" sz="1400" dirty="0">
                <a:solidFill>
                  <a:schemeClr val="bg1"/>
                </a:solidFill>
                <a:latin typeface="Segoe UI Semibold" pitchFamily="34" charset="0"/>
                <a:ea typeface="Segoe UI Semibold" pitchFamily="34" charset="-122"/>
                <a:cs typeface="Segoe UI Semibold" pitchFamily="34" charset="-120"/>
              </a:rPr>
              <a:t>Internet: once</a:t>
            </a:r>
            <a:endParaRPr lang="en-US" sz="1400" dirty="0"/>
          </a:p>
        </p:txBody>
      </p:sp>
      <p:sp>
        <p:nvSpPr>
          <p:cNvPr id="35" name="fact0-body"/>
          <p:cNvSpPr txBox="1"/>
          <p:nvPr/>
        </p:nvSpPr>
        <p:spPr>
          <a:xfrm>
            <a:off x="822960" y="5413248"/>
            <a:ext cx="3291840" cy="731520"/>
          </a:xfrm>
          <a:prstGeom prst="rect">
            <a:avLst/>
          </a:prstGeom>
          <a:noFill/>
          <a:ln/>
        </p:spPr>
        <p:txBody>
          <a:bodyPr wrap="square" lIns="0" tIns="0" rIns="0" bIns="0" rtlCol="0" anchor="t"/>
          <a:lstStyle/>
          <a:p>
            <a:pPr indent="0" marL="0">
              <a:buNone/>
            </a:pPr>
            <a:r>
              <a:rPr lang="en-US" sz="1250" dirty="0">
                <a:solidFill>
                  <a:schemeClr val="bg2"/>
                </a:solidFill>
                <a:latin typeface="Segoe UI" pitchFamily="34" charset="0"/>
                <a:ea typeface="Segoe UI" pitchFamily="34" charset="-122"/>
                <a:cs typeface="Segoe UI" pitchFamily="34" charset="-120"/>
              </a:rPr>
              <a:t>A one-time 491 MB model download, checked with SHA-256. The app makes no other network calls.</a:t>
            </a:r>
            <a:endParaRPr lang="en-US" sz="1250" dirty="0"/>
          </a:p>
        </p:txBody>
      </p:sp>
      <p:sp>
        <p:nvSpPr>
          <p:cNvPr id="36" name="fact1-pixel-00"/>
          <p:cNvSpPr/>
          <p:nvPr/>
        </p:nvSpPr>
        <p:spPr>
          <a:xfrm>
            <a:off x="4297680" y="5184648"/>
            <a:ext cx="54864" cy="54864"/>
          </a:xfrm>
          <a:prstGeom prst="rect">
            <a:avLst/>
          </a:prstGeom>
          <a:solidFill>
            <a:srgbClr val="A9B59A"/>
          </a:solidFill>
          <a:ln w="12700">
            <a:solidFill>
              <a:srgbClr val="A9B59A"/>
            </a:solidFill>
            <a:prstDash val="solid"/>
          </a:ln>
        </p:spPr>
      </p:sp>
      <p:sp>
        <p:nvSpPr>
          <p:cNvPr id="37" name="fact1-pixel-01"/>
          <p:cNvSpPr/>
          <p:nvPr/>
        </p:nvSpPr>
        <p:spPr>
          <a:xfrm>
            <a:off x="4297680" y="5257800"/>
            <a:ext cx="54864" cy="54864"/>
          </a:xfrm>
          <a:prstGeom prst="rect">
            <a:avLst/>
          </a:prstGeom>
          <a:solidFill>
            <a:srgbClr val="A9B59A"/>
          </a:solidFill>
          <a:ln w="12700">
            <a:solidFill>
              <a:srgbClr val="A9B59A"/>
            </a:solidFill>
            <a:prstDash val="solid"/>
          </a:ln>
        </p:spPr>
      </p:sp>
      <p:sp>
        <p:nvSpPr>
          <p:cNvPr id="38" name="fact1-pixel-10"/>
          <p:cNvSpPr/>
          <p:nvPr/>
        </p:nvSpPr>
        <p:spPr>
          <a:xfrm>
            <a:off x="4370832" y="5184648"/>
            <a:ext cx="54864" cy="54864"/>
          </a:xfrm>
          <a:prstGeom prst="rect">
            <a:avLst/>
          </a:prstGeom>
          <a:solidFill>
            <a:srgbClr val="A9B59A"/>
          </a:solidFill>
          <a:ln w="12700">
            <a:solidFill>
              <a:srgbClr val="A9B59A"/>
            </a:solidFill>
            <a:prstDash val="solid"/>
          </a:ln>
        </p:spPr>
      </p:sp>
      <p:sp>
        <p:nvSpPr>
          <p:cNvPr id="39" name="fact1-pixel-11"/>
          <p:cNvSpPr/>
          <p:nvPr/>
        </p:nvSpPr>
        <p:spPr>
          <a:xfrm>
            <a:off x="4370832" y="5257800"/>
            <a:ext cx="54864" cy="54864"/>
          </a:xfrm>
          <a:prstGeom prst="rect">
            <a:avLst/>
          </a:prstGeom>
          <a:solidFill>
            <a:srgbClr val="A9B59A"/>
          </a:solidFill>
          <a:ln w="12700">
            <a:solidFill>
              <a:srgbClr val="A9B59A"/>
            </a:solidFill>
            <a:prstDash val="solid"/>
          </a:ln>
        </p:spPr>
      </p:sp>
      <p:sp>
        <p:nvSpPr>
          <p:cNvPr id="40" name="fact1-head"/>
          <p:cNvSpPr txBox="1"/>
          <p:nvPr/>
        </p:nvSpPr>
        <p:spPr>
          <a:xfrm>
            <a:off x="4572000" y="5074920"/>
            <a:ext cx="3291840" cy="320040"/>
          </a:xfrm>
          <a:prstGeom prst="rect">
            <a:avLst/>
          </a:prstGeom>
          <a:noFill/>
          <a:ln/>
        </p:spPr>
        <p:txBody>
          <a:bodyPr wrap="square" lIns="0" tIns="0" rIns="0" bIns="0" rtlCol="0" anchor="ctr"/>
          <a:lstStyle/>
          <a:p>
            <a:pPr indent="0" marL="0">
              <a:buNone/>
            </a:pPr>
            <a:r>
              <a:rPr lang="en-US" sz="1400" dirty="0">
                <a:solidFill>
                  <a:schemeClr val="bg1"/>
                </a:solidFill>
                <a:latin typeface="Segoe UI Semibold" pitchFamily="34" charset="0"/>
                <a:ea typeface="Segoe UI Semibold" pitchFamily="34" charset="-122"/>
                <a:cs typeface="Segoe UI Semibold" pitchFamily="34" charset="-120"/>
              </a:rPr>
              <a:t>No account, no server</a:t>
            </a:r>
            <a:endParaRPr lang="en-US" sz="1400" dirty="0"/>
          </a:p>
        </p:txBody>
      </p:sp>
      <p:sp>
        <p:nvSpPr>
          <p:cNvPr id="41" name="fact1-body"/>
          <p:cNvSpPr txBox="1"/>
          <p:nvPr/>
        </p:nvSpPr>
        <p:spPr>
          <a:xfrm>
            <a:off x="4572000" y="5413248"/>
            <a:ext cx="3291840" cy="731520"/>
          </a:xfrm>
          <a:prstGeom prst="rect">
            <a:avLst/>
          </a:prstGeom>
          <a:noFill/>
          <a:ln/>
        </p:spPr>
        <p:txBody>
          <a:bodyPr wrap="square" lIns="0" tIns="0" rIns="0" bIns="0" rtlCol="0" anchor="t"/>
          <a:lstStyle/>
          <a:p>
            <a:pPr indent="0" marL="0">
              <a:buNone/>
            </a:pPr>
            <a:r>
              <a:rPr lang="en-US" sz="1250" dirty="0">
                <a:solidFill>
                  <a:schemeClr val="bg2"/>
                </a:solidFill>
                <a:latin typeface="Segoe UI" pitchFamily="34" charset="0"/>
                <a:ea typeface="Segoe UI" pitchFamily="34" charset="-122"/>
                <a:cs typeface="Segoe UI" pitchFamily="34" charset="-120"/>
              </a:rPr>
              <a:t>No analytics. Chats aren’t saved, only the items you confirm.</a:t>
            </a:r>
            <a:endParaRPr lang="en-US" sz="1250" dirty="0"/>
          </a:p>
        </p:txBody>
      </p:sp>
      <p:sp>
        <p:nvSpPr>
          <p:cNvPr id="42" name="fact2-pixel-00"/>
          <p:cNvSpPr/>
          <p:nvPr/>
        </p:nvSpPr>
        <p:spPr>
          <a:xfrm>
            <a:off x="8046720" y="5184648"/>
            <a:ext cx="54864" cy="54864"/>
          </a:xfrm>
          <a:prstGeom prst="rect">
            <a:avLst/>
          </a:prstGeom>
          <a:solidFill>
            <a:srgbClr val="A9B59A"/>
          </a:solidFill>
          <a:ln w="12700">
            <a:solidFill>
              <a:srgbClr val="A9B59A"/>
            </a:solidFill>
            <a:prstDash val="solid"/>
          </a:ln>
        </p:spPr>
      </p:sp>
      <p:sp>
        <p:nvSpPr>
          <p:cNvPr id="43" name="fact2-pixel-01"/>
          <p:cNvSpPr/>
          <p:nvPr/>
        </p:nvSpPr>
        <p:spPr>
          <a:xfrm>
            <a:off x="8046720" y="5257800"/>
            <a:ext cx="54864" cy="54864"/>
          </a:xfrm>
          <a:prstGeom prst="rect">
            <a:avLst/>
          </a:prstGeom>
          <a:solidFill>
            <a:srgbClr val="A9B59A"/>
          </a:solidFill>
          <a:ln w="12700">
            <a:solidFill>
              <a:srgbClr val="A9B59A"/>
            </a:solidFill>
            <a:prstDash val="solid"/>
          </a:ln>
        </p:spPr>
      </p:sp>
      <p:sp>
        <p:nvSpPr>
          <p:cNvPr id="44" name="fact2-pixel-10"/>
          <p:cNvSpPr/>
          <p:nvPr/>
        </p:nvSpPr>
        <p:spPr>
          <a:xfrm>
            <a:off x="8119872" y="5184648"/>
            <a:ext cx="54864" cy="54864"/>
          </a:xfrm>
          <a:prstGeom prst="rect">
            <a:avLst/>
          </a:prstGeom>
          <a:solidFill>
            <a:srgbClr val="A9B59A"/>
          </a:solidFill>
          <a:ln w="12700">
            <a:solidFill>
              <a:srgbClr val="A9B59A"/>
            </a:solidFill>
            <a:prstDash val="solid"/>
          </a:ln>
        </p:spPr>
      </p:sp>
      <p:sp>
        <p:nvSpPr>
          <p:cNvPr id="45" name="fact2-pixel-11"/>
          <p:cNvSpPr/>
          <p:nvPr/>
        </p:nvSpPr>
        <p:spPr>
          <a:xfrm>
            <a:off x="8119872" y="5257800"/>
            <a:ext cx="54864" cy="54864"/>
          </a:xfrm>
          <a:prstGeom prst="rect">
            <a:avLst/>
          </a:prstGeom>
          <a:solidFill>
            <a:srgbClr val="A9B59A"/>
          </a:solidFill>
          <a:ln w="12700">
            <a:solidFill>
              <a:srgbClr val="A9B59A"/>
            </a:solidFill>
            <a:prstDash val="solid"/>
          </a:ln>
        </p:spPr>
      </p:sp>
      <p:sp>
        <p:nvSpPr>
          <p:cNvPr id="46" name="fact2-head"/>
          <p:cNvSpPr txBox="1"/>
          <p:nvPr/>
        </p:nvSpPr>
        <p:spPr>
          <a:xfrm>
            <a:off x="8321040" y="5074920"/>
            <a:ext cx="3291840" cy="320040"/>
          </a:xfrm>
          <a:prstGeom prst="rect">
            <a:avLst/>
          </a:prstGeom>
          <a:noFill/>
          <a:ln/>
        </p:spPr>
        <p:txBody>
          <a:bodyPr wrap="square" lIns="0" tIns="0" rIns="0" bIns="0" rtlCol="0" anchor="ctr"/>
          <a:lstStyle/>
          <a:p>
            <a:pPr indent="0" marL="0">
              <a:buNone/>
            </a:pPr>
            <a:r>
              <a:rPr lang="en-US" sz="1400" dirty="0">
                <a:solidFill>
                  <a:schemeClr val="bg1"/>
                </a:solidFill>
                <a:latin typeface="Segoe UI Semibold" pitchFamily="34" charset="0"/>
                <a:ea typeface="Segoe UI Semibold" pitchFamily="34" charset="-122"/>
                <a:cs typeface="Segoe UI Semibold" pitchFamily="34" charset="-120"/>
              </a:rPr>
              <a:t>Honest labels</a:t>
            </a:r>
            <a:endParaRPr lang="en-US" sz="1400" dirty="0"/>
          </a:p>
        </p:txBody>
      </p:sp>
      <p:sp>
        <p:nvSpPr>
          <p:cNvPr id="47" name="fact2-body"/>
          <p:cNvSpPr txBox="1"/>
          <p:nvPr/>
        </p:nvSpPr>
        <p:spPr>
          <a:xfrm>
            <a:off x="8321040" y="5413248"/>
            <a:ext cx="3291840" cy="731520"/>
          </a:xfrm>
          <a:prstGeom prst="rect">
            <a:avLst/>
          </a:prstGeom>
          <a:noFill/>
          <a:ln/>
        </p:spPr>
        <p:txBody>
          <a:bodyPr wrap="square" lIns="0" tIns="0" rIns="0" bIns="0" rtlCol="0" anchor="t"/>
          <a:lstStyle/>
          <a:p>
            <a:pPr indent="0" marL="0">
              <a:buNone/>
            </a:pPr>
            <a:r>
              <a:rPr lang="en-US" sz="1250" dirty="0">
                <a:solidFill>
                  <a:schemeClr val="bg2"/>
                </a:solidFill>
                <a:latin typeface="Segoe UI" pitchFamily="34" charset="0"/>
                <a:ea typeface="Segoe UI" pitchFamily="34" charset="-122"/>
                <a:cs typeface="Segoe UI" pitchFamily="34" charset="-120"/>
              </a:rPr>
              <a:t>Each reply says whether the on-device model or the rule-based fallback answered.</a:t>
            </a:r>
            <a:endParaRPr lang="en-US" sz="1250" dirty="0"/>
          </a:p>
        </p:txBody>
      </p:sp>
      <p:sp>
        <p:nvSpPr>
          <p:cNvPr id="25" name="Slide Number Placeholder 0"/>
          <p:cNvSpPr>
            <a:spLocks noGrp="1"/>
          </p:cNvSpPr>
          <p:nvPr>
            <p:ph type="sldNum" sz="quarter" idx="4294967295"/>
          </p:nvPr>
        </p:nvSpPr>
        <p:spPr>
          <a:xfrm>
            <a:off x="11155680" y="630936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Consolas"/>
                <a:ea typeface="Consolas"/>
                <a:cs typeface="Consolas"/>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pixel-texture" descr="C:\Users\meanl\Documents\GitHub Repositories\Cubeit\presentation\assets\dither-up.png">    </p:cNvPr>
          <p:cNvPicPr>
            <a:picLocks noChangeAspect="1"/>
          </p:cNvPicPr>
          <p:nvPr/>
        </p:nvPicPr>
        <p:blipFill>
          <a:blip r:embed="rId1">
            <a:alphaModFix amt="18000"/>
          </a:blip>
          <a:stretch>
            <a:fillRect/>
          </a:stretch>
        </p:blipFill>
        <p:spPr>
          <a:xfrm>
            <a:off x="0" y="5577840"/>
            <a:ext cx="12191695" cy="1280160"/>
          </a:xfrm>
          <a:prstGeom prst="rect">
            <a:avLst/>
          </a:prstGeom>
        </p:spPr>
      </p:pic>
      <p:pic>
        <p:nvPicPr>
          <p:cNvPr id="3" name="pip-celebrates" descr="C:\Users\meanl\Documents\GitHub Repositories\Cubeit\presentation\assets\lcd-celebrate.png">    </p:cNvPr>
          <p:cNvPicPr>
            <a:picLocks noChangeAspect="1"/>
          </p:cNvPicPr>
          <p:nvPr/>
        </p:nvPicPr>
        <p:blipFill>
          <a:blip r:embed="rId2"/>
          <a:stretch>
            <a:fillRect/>
          </a:stretch>
        </p:blipFill>
        <p:spPr>
          <a:xfrm>
            <a:off x="822960" y="914400"/>
            <a:ext cx="4206240" cy="4544461"/>
          </a:xfrm>
          <a:prstGeom prst="rect">
            <a:avLst/>
          </a:prstGeom>
        </p:spPr>
      </p:pic>
      <p:pic>
        <p:nvPicPr>
          <p:cNvPr id="4" name="cube-logo" descr="C:\Users\meanl\Documents\GitHub Repositories\Cubeit\presentation\assets\cube-1024.png">    </p:cNvPr>
          <p:cNvPicPr>
            <a:picLocks noChangeAspect="1"/>
          </p:cNvPicPr>
          <p:nvPr/>
        </p:nvPicPr>
        <p:blipFill>
          <a:blip r:embed="rId3"/>
          <a:stretch>
            <a:fillRect/>
          </a:stretch>
        </p:blipFill>
        <p:spPr>
          <a:xfrm>
            <a:off x="6035040" y="1417320"/>
            <a:ext cx="914400" cy="914400"/>
          </a:xfrm>
          <a:prstGeom prst="rect">
            <a:avLst/>
          </a:prstGeom>
        </p:spPr>
      </p:pic>
      <p:sp>
        <p:nvSpPr>
          <p:cNvPr id="5" name="wordmark"/>
          <p:cNvSpPr txBox="1"/>
          <p:nvPr/>
        </p:nvSpPr>
        <p:spPr>
          <a:xfrm>
            <a:off x="7086600" y="1463040"/>
            <a:ext cx="3657600" cy="822960"/>
          </a:xfrm>
          <a:prstGeom prst="rect">
            <a:avLst/>
          </a:prstGeom>
          <a:noFill/>
          <a:ln/>
        </p:spPr>
        <p:txBody>
          <a:bodyPr wrap="square" lIns="0" tIns="0" rIns="0" bIns="0" rtlCol="0" anchor="ctr"/>
          <a:lstStyle/>
          <a:p>
            <a:pPr indent="0" marL="0">
              <a:buNone/>
            </a:pPr>
            <a:r>
              <a:rPr lang="en-US" sz="4400" dirty="0">
                <a:solidFill>
                  <a:schemeClr val="bg1"/>
                </a:solidFill>
                <a:latin typeface="Segoe UI Semibold" pitchFamily="34" charset="0"/>
                <a:ea typeface="Segoe UI Semibold" pitchFamily="34" charset="-122"/>
                <a:cs typeface="Segoe UI Semibold" pitchFamily="34" charset="-120"/>
              </a:rPr>
              <a:t>cubeit</a:t>
            </a:r>
            <a:endParaRPr lang="en-US" sz="4400" dirty="0"/>
          </a:p>
        </p:txBody>
      </p:sp>
      <p:sp>
        <p:nvSpPr>
          <p:cNvPr id="6" name="tagline"/>
          <p:cNvSpPr txBox="1"/>
          <p:nvPr/>
        </p:nvSpPr>
        <p:spPr>
          <a:xfrm>
            <a:off x="6035040" y="2697480"/>
            <a:ext cx="5760720" cy="822960"/>
          </a:xfrm>
          <a:prstGeom prst="rect">
            <a:avLst/>
          </a:prstGeom>
          <a:noFill/>
          <a:ln/>
        </p:spPr>
        <p:txBody>
          <a:bodyPr wrap="square" lIns="0" tIns="0" rIns="0" bIns="0" rtlCol="0" anchor="ctr"/>
          <a:lstStyle/>
          <a:p>
            <a:pPr indent="0" marL="0">
              <a:buNone/>
            </a:pPr>
            <a:r>
              <a:rPr lang="en-US" sz="3800" dirty="0">
                <a:solidFill>
                  <a:schemeClr val="accent2"/>
                </a:solidFill>
                <a:latin typeface="Segoe UI Semibold" pitchFamily="34" charset="0"/>
                <a:ea typeface="Segoe UI Semibold" pitchFamily="34" charset="-122"/>
                <a:cs typeface="Segoe UI Semibold" pitchFamily="34" charset="-120"/>
              </a:rPr>
              <a:t>You’ve got a companion.</a:t>
            </a:r>
            <a:endParaRPr lang="en-US" sz="3800" dirty="0"/>
          </a:p>
        </p:txBody>
      </p:sp>
      <p:sp>
        <p:nvSpPr>
          <p:cNvPr id="7" name="closing-line"/>
          <p:cNvSpPr txBox="1"/>
          <p:nvPr/>
        </p:nvSpPr>
        <p:spPr>
          <a:xfrm>
            <a:off x="6035040" y="3657600"/>
            <a:ext cx="5394960" cy="1005840"/>
          </a:xfrm>
          <a:prstGeom prst="rect">
            <a:avLst/>
          </a:prstGeom>
          <a:noFill/>
          <a:ln/>
        </p:spPr>
        <p:txBody>
          <a:bodyPr wrap="square" lIns="0" tIns="0" rIns="0" bIns="0" rtlCol="0" anchor="t"/>
          <a:lstStyle/>
          <a:p>
            <a:pPr indent="0" marL="0">
              <a:buNone/>
            </a:pPr>
            <a:r>
              <a:rPr lang="en-US" sz="1800" dirty="0">
                <a:solidFill>
                  <a:schemeClr val="bg2"/>
                </a:solidFill>
                <a:latin typeface="Segoe UI" pitchFamily="34" charset="0"/>
                <a:ea typeface="Segoe UI" pitchFamily="34" charset="-122"/>
                <a:cs typeface="Segoe UI" pitchFamily="34" charset="-120"/>
              </a:rPr>
              <a:t>It keeps track of the little things, notices when you get them done, and keeps all of it on your phone.</a:t>
            </a:r>
            <a:endParaRPr lang="en-US" sz="1800" dirty="0"/>
          </a:p>
        </p:txBody>
      </p:sp>
      <p:sp>
        <p:nvSpPr>
          <p:cNvPr id="8" name="thanks"/>
          <p:cNvSpPr txBox="1"/>
          <p:nvPr/>
        </p:nvSpPr>
        <p:spPr>
          <a:xfrm>
            <a:off x="6035040" y="4983480"/>
            <a:ext cx="4572000" cy="365760"/>
          </a:xfrm>
          <a:prstGeom prst="rect">
            <a:avLst/>
          </a:prstGeom>
          <a:noFill/>
          <a:ln/>
        </p:spPr>
        <p:txBody>
          <a:bodyPr wrap="square" lIns="0" tIns="0" rIns="0" bIns="0" rtlCol="0" anchor="ctr"/>
          <a:lstStyle/>
          <a:p>
            <a:pPr indent="0" marL="0">
              <a:buNone/>
            </a:pPr>
            <a:r>
              <a:rPr lang="en-US" sz="1400" spc="100" kern="0" dirty="0">
                <a:solidFill>
                  <a:schemeClr val="accent2"/>
                </a:solidFill>
                <a:latin typeface="Consolas" pitchFamily="34" charset="0"/>
                <a:ea typeface="Consolas" pitchFamily="34" charset="-122"/>
                <a:cs typeface="Consolas" pitchFamily="34" charset="-120"/>
              </a:rPr>
              <a:t>Thank you  ·  Questions?</a:t>
            </a:r>
            <a:endParaRPr lang="en-US" sz="1400" dirty="0"/>
          </a:p>
        </p:txBody>
      </p:sp>
    </p:spTree>
  </p:cSld>
  <p:clrMapOvr>
    <a:masterClrMapping/>
  </p:clrMapOvr>
</p:sld>
</file>

<file path=ppt/theme/theme1.xml><?xml version="1.0" encoding="utf-8"?>
<a:theme xmlns:a="http://schemas.openxmlformats.org/drawingml/2006/main" name="Cubeit Night">
  <a:themeElements>
    <a:clrScheme name="Cubeit Night">
      <a:dk1>
        <a:srgbClr val="0B1524"/>
      </a:dk1>
      <a:lt1>
        <a:srgbClr val="EEF3F8"/>
      </a:lt1>
      <a:dk2>
        <a:srgbClr val="13233A"/>
      </a:dk2>
      <a:lt2>
        <a:srgbClr val="9FB0C4"/>
      </a:lt2>
      <a:accent1>
        <a:srgbClr val="4F8DBE"/>
      </a:accent1>
      <a:accent2>
        <a:srgbClr val="9CC6E8"/>
      </a:accent2>
      <a:accent3>
        <a:srgbClr val="306085"/>
      </a:accent3>
      <a:accent4>
        <a:srgbClr val="A9B59A"/>
      </a:accent4>
      <a:accent5>
        <a:srgbClr val="F2A83B"/>
      </a:accent5>
      <a:accent6>
        <a:srgbClr val="25395A"/>
      </a:accent6>
      <a:hlink>
        <a:srgbClr val="9CC6E8"/>
      </a:hlink>
      <a:folHlink>
        <a:srgbClr val="9CC6E8"/>
      </a:folHlink>
    </a:clrScheme>
    <a:fontScheme name="Cubeit Night">
      <a:majorFont>
        <a:latin typeface="Segoe UI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Cubeit — You’ve got a companion</dc:title>
  <dc:subject>AppBuildersPH Hackathon 2026 — Local AI</dc:subject>
  <dc:creator>Cubeit team</dc:creator>
  <cp:lastModifiedBy>Cubeit team</cp:lastModifiedBy>
  <cp:revision>1</cp:revision>
  <dcterms:created xsi:type="dcterms:W3CDTF">2026-10-10T01:58:41Z</dcterms:created>
  <dcterms:modified xsi:type="dcterms:W3CDTF">2026-10-10T01:58:41Z</dcterms:modified>
</cp:coreProperties>
</file>